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7"/>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em xin trình bày đồ án Phát hiện hành vi buồn ngủ của tài xế từ hình ảnh khuôn mặt sử dụng Deep Learning. Nhóm gồm 3 thành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5 phần. Em xin bắt đầu từ bối cảnh bài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Buồn ngủ khi lái xe khác với các nguyên nhân khác ở chỗ nó diễn tiến âm thầm và chính tài xế thường không nhận ra. Ba con số bên dưới là chỗ nhóm cần điền số liệu có trích dẫn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bài toán phân loại nhị phân trên ảnh. Ràng buộc quan trọng nhất nằm ở dòng cuối: mô hình phải chạy được với tài xế chưa từng thấy. Ràng buộc này chính là điểm mấu chốt của cả đồ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chọn bộ DDD trên Kaggle. Điểm quan trọng nhất, và cũng là lý do nhóm chọn bộ này thay vì NTHU-DDD, là tên tệp ảnh có mã hoá định danh người tham 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của bài. Nhiều công trình trên bộ DDD báo cáo độ chính xác gần như tuyệt đối. Nhóm đặt câu hỏi: con số đó đến từ đâu? Câu trả lời là rò rỉ danh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tổng quan. Điểm khác biệt nằm ở khối chia dữ liệu: nó tách thành hai nhánh song song, dùng chung mọi thành phần còn lại. Nhờ vậy mọi chênh lệch ở đầu ra đều quy về đúng một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Augmentation chỉ áp dụng cho tập train. Nhóm cố ý không dùng lật dọc vì khuôn mặt lật ngược không tồn tại khi lái xe, và không cắt ngẫu nhiên mạnh vì có nguy cơ cắt mất vùng mắt hoặc miệng.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giao thức đều chia 70/15/15. Khác biệt duy nhất là đơn vị chia: giao thức A chia theo ảnh, giao thức B chia theo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kiến trúc: một CNN nhóm tự thiết kế làm mốc cơ sở, và hai mô hình học chuyển giao. Phần đầu phân loại của cả ba được giữ giống hệt nhau để phép so sánh công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thí nghiệm theo cấu trúc ba mô hình nhân hai giao thức. Toàn bộ siêu tham số được chốt trước khi chạy và không đổi trong cả sáu.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đường cong huấn luyện. Nhóm cần nhận xét: mô hình hội tụ ở epoch nào, khoảng cách giữa train và validation phản ánh mức quá khớp ra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kết quả sáu thí nghiệm. Chú ý nhóm E1–E3 ở trên và E4–E6 ở dưới — đây là chỗ khác biệt lộ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cốt lõi. Cùng mô hình, cùng siêu tham số, cùng seed — chỉ khác cách chia. Chênh lệch quan sát được quy trực tiếp về nguyên nhân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nhầm lẫn cho biết cấu trúc lỗi, điều mà một con số accuracy đơn lẻ không thể hiện được. Nhóm cần so sánh số FN giữa hai giao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Grad-CAM trả lời câu hỏi: mô hình nhìn vào đâu? Nếu bản đồ nhiệt tập trung ở mắt và miệng thì mô hình học đúng. Nếu trải ra nền và tóc thì nó đang học đặc trưng nhận dạng cá nhân — đúng như giả thuyết của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có demo chạy trực tiếp qua webcam. Phát hiện khuôn mặt bằng Haar Cascade, cắt vùng mặt rồi đưa vào MobileNetV2 đã huấn luyện theo giao thức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đóng góp của nhóm. Điểm em muốn nhấn mạnh là đóng góp thứ nhất và thứ hai — nhóm không phát minh kiến trúc mới, mà chỉ ra một vấn đề về giao thức đánh giá và đề xuất cách khắc phục.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cũng nhận thấy một số hạn chế và đã vạch ra hướng phát triển tương 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của nhóm em đến đây là hết. Nhóm em xin cảm ơn thầy cô đã lắng nghe và rất mong nhận được câu hỏi cũng như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3" name="Shape 0"/>
          <p:cNvSpPr/>
          <p:nvPr/>
        </p:nvSpPr>
        <p:spPr>
          <a:xfrm>
            <a:off x="-1463040" y="-2011680"/>
            <a:ext cx="5852160" cy="5852160"/>
          </a:xfrm>
          <a:prstGeom prst="ellipse">
            <a:avLst/>
          </a:prstGeom>
          <a:solidFill>
            <a:srgbClr val="1D3557"/>
          </a:solidFill>
          <a:ln w="12700">
            <a:solidFill>
              <a:srgbClr val="1D3557"/>
            </a:solidFill>
            <a:prstDash val="solid"/>
          </a:ln>
        </p:spPr>
      </p:sp>
      <p:sp>
        <p:nvSpPr>
          <p:cNvPr id="4" name="Text 1"/>
          <p:cNvSpPr/>
          <p:nvPr/>
        </p:nvSpPr>
        <p:spPr>
          <a:xfrm>
            <a:off x="594360" y="1417320"/>
            <a:ext cx="11000232" cy="320040"/>
          </a:xfrm>
          <a:prstGeom prst="rect">
            <a:avLst/>
          </a:prstGeom>
          <a:noFill/>
          <a:ln/>
        </p:spPr>
        <p:txBody>
          <a:bodyPr wrap="square" lIns="0" tIns="0" rIns="0" bIns="0" rtlCol="0" anchor="ctr"/>
          <a:lstStyle/>
          <a:p>
            <a:pPr indent="0" marL="0">
              <a:buNone/>
            </a:pPr>
            <a:r>
              <a:rPr lang="en-US" sz="1400" b="1" spc="300" kern="0" dirty="0">
                <a:solidFill>
                  <a:srgbClr val="E8A33D"/>
                </a:solidFill>
                <a:latin typeface="Calibri" pitchFamily="34" charset="0"/>
                <a:ea typeface="Calibri" pitchFamily="34" charset="-122"/>
                <a:cs typeface="Calibri" pitchFamily="34" charset="-120"/>
              </a:rPr>
              <a:t>ĐỒ ÁN MÔN HỌC</a:t>
            </a:r>
            <a:endParaRPr lang="en-US" sz="1400" dirty="0"/>
          </a:p>
        </p:txBody>
      </p:sp>
      <p:sp>
        <p:nvSpPr>
          <p:cNvPr id="5" name="Text 2"/>
          <p:cNvSpPr/>
          <p:nvPr/>
        </p:nvSpPr>
        <p:spPr>
          <a:xfrm>
            <a:off x="594360" y="1874520"/>
            <a:ext cx="9994392" cy="137160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Phát hiện hành vi buồn ngủ của tài xế</a:t>
            </a:r>
            <a:endParaRPr lang="en-US" sz="3400" dirty="0"/>
          </a:p>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từ hình ảnh khuôn mặt sử dụng Deep Learning</a:t>
            </a:r>
            <a:endParaRPr lang="en-US" sz="3400" dirty="0"/>
          </a:p>
        </p:txBody>
      </p:sp>
      <p:sp>
        <p:nvSpPr>
          <p:cNvPr id="6" name="Text 3"/>
          <p:cNvSpPr/>
          <p:nvPr/>
        </p:nvSpPr>
        <p:spPr>
          <a:xfrm>
            <a:off x="594360" y="3310128"/>
            <a:ext cx="9994392" cy="365760"/>
          </a:xfrm>
          <a:prstGeom prst="rect">
            <a:avLst/>
          </a:prstGeom>
          <a:noFill/>
          <a:ln/>
        </p:spPr>
        <p:txBody>
          <a:bodyPr wrap="square" lIns="0" tIns="0" rIns="0" bIns="0" rtlCol="0" anchor="ctr"/>
          <a:lstStyle/>
          <a:p>
            <a:pPr indent="0" marL="0">
              <a:buNone/>
            </a:pPr>
            <a:r>
              <a:rPr lang="en-US" sz="1500" i="1" dirty="0">
                <a:solidFill>
                  <a:srgbClr val="A9BBD4"/>
                </a:solidFill>
                <a:latin typeface="Calibri" pitchFamily="34" charset="0"/>
                <a:ea typeface="Calibri" pitchFamily="34" charset="-122"/>
                <a:cs typeface="Calibri" pitchFamily="34" charset="-120"/>
              </a:rPr>
              <a:t>Driver Drowsiness Detection from Facial Images Using Deep Learning</a:t>
            </a:r>
            <a:endParaRPr lang="en-US" sz="1500" dirty="0"/>
          </a:p>
        </p:txBody>
      </p:sp>
      <p:sp>
        <p:nvSpPr>
          <p:cNvPr id="7" name="Text 4"/>
          <p:cNvSpPr/>
          <p:nvPr/>
        </p:nvSpPr>
        <p:spPr>
          <a:xfrm>
            <a:off x="594360" y="4343400"/>
            <a:ext cx="11000232" cy="822960"/>
          </a:xfrm>
          <a:prstGeom prst="rect">
            <a:avLst/>
          </a:prstGeom>
          <a:noFill/>
          <a:ln/>
        </p:spPr>
        <p:txBody>
          <a:bodyPr wrap="square" lIns="0" tIns="0" rIns="0" bIns="0" rtlCol="0" anchor="ctr"/>
          <a:lstStyle/>
          <a:p>
            <a:pPr indent="0" marL="0">
              <a:lnSpc>
                <a:spcPts val="2400"/>
              </a:lnSpc>
              <a:buNone/>
            </a:pPr>
            <a:r>
              <a:rPr lang="en-US" sz="1400" dirty="0">
                <a:solidFill>
                  <a:srgbClr val="CBD7E8"/>
                </a:solidFill>
                <a:latin typeface="Calibri" pitchFamily="34" charset="0"/>
                <a:ea typeface="Calibri" pitchFamily="34" charset="-122"/>
                <a:cs typeface="Calibri" pitchFamily="34" charset="-120"/>
              </a:rPr>
              <a:t>GVHD:  [ĐIỀN]</a:t>
            </a:r>
            <a:endParaRPr lang="en-US" sz="1400" dirty="0"/>
          </a:p>
          <a:p>
            <a:pPr indent="0" marL="0">
              <a:lnSpc>
                <a:spcPts val="2400"/>
              </a:lnSpc>
              <a:buNone/>
            </a:pPr>
            <a:r>
              <a:rPr lang="en-US" sz="1400" dirty="0">
                <a:solidFill>
                  <a:srgbClr val="CBD7E8"/>
                </a:solidFill>
                <a:latin typeface="Calibri" pitchFamily="34" charset="0"/>
                <a:ea typeface="Calibri" pitchFamily="34" charset="-122"/>
                <a:cs typeface="Calibri" pitchFamily="34" charset="-120"/>
              </a:rPr>
              <a:t>Nhóm thực hiện:  [Thành viên A]  ·  [Thành viên B]  ·  [Thành viên C]</a:t>
            </a:r>
            <a:endParaRPr lang="en-US" sz="1400" dirty="0"/>
          </a:p>
        </p:txBody>
      </p:sp>
      <p:sp>
        <p:nvSpPr>
          <p:cNvPr id="8" name="Text 5"/>
          <p:cNvSpPr/>
          <p:nvPr/>
        </p:nvSpPr>
        <p:spPr>
          <a:xfrm>
            <a:off x="594360" y="5852160"/>
            <a:ext cx="182880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1</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Nội dung trình bày</a:t>
            </a:r>
            <a:endParaRPr lang="en-US" sz="3200" dirty="0"/>
          </a:p>
        </p:txBody>
      </p:sp>
      <p:sp>
        <p:nvSpPr>
          <p:cNvPr id="5" name="Shape 2"/>
          <p:cNvSpPr/>
          <p:nvPr/>
        </p:nvSpPr>
        <p:spPr>
          <a:xfrm>
            <a:off x="594360" y="1680210"/>
            <a:ext cx="11000232" cy="786384"/>
          </a:xfrm>
          <a:prstGeom prst="roundRect">
            <a:avLst>
              <a:gd name="adj" fmla="val 1046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6" name="Shape 3"/>
          <p:cNvSpPr/>
          <p:nvPr/>
        </p:nvSpPr>
        <p:spPr>
          <a:xfrm>
            <a:off x="905256" y="1881835"/>
            <a:ext cx="402336" cy="402336"/>
          </a:xfrm>
          <a:prstGeom prst="ellipse">
            <a:avLst/>
          </a:prstGeom>
          <a:solidFill>
            <a:srgbClr val="E8A33D"/>
          </a:solidFill>
          <a:ln w="12700">
            <a:solidFill>
              <a:srgbClr val="E8A33D"/>
            </a:solidFill>
            <a:prstDash val="solid"/>
          </a:ln>
        </p:spPr>
      </p:sp>
      <p:sp>
        <p:nvSpPr>
          <p:cNvPr id="7" name="Text 4"/>
          <p:cNvSpPr/>
          <p:nvPr/>
        </p:nvSpPr>
        <p:spPr>
          <a:xfrm>
            <a:off x="905256" y="188183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08760" y="1795424"/>
            <a:ext cx="4023360" cy="292608"/>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Đặt vấn đề</a:t>
            </a:r>
            <a:endParaRPr lang="en-US" sz="1600" dirty="0"/>
          </a:p>
        </p:txBody>
      </p:sp>
      <p:sp>
        <p:nvSpPr>
          <p:cNvPr id="9" name="Text 6"/>
          <p:cNvSpPr/>
          <p:nvPr/>
        </p:nvSpPr>
        <p:spPr>
          <a:xfrm>
            <a:off x="1508760" y="2121865"/>
            <a:ext cx="8595360" cy="274320"/>
          </a:xfrm>
          <a:prstGeom prst="rect">
            <a:avLst/>
          </a:prstGeom>
          <a:noFill/>
          <a:ln/>
        </p:spPr>
        <p:txBody>
          <a:bodyPr wrap="square" lIns="0" tIns="0" rIns="0" bIns="0" rtlCol="0" anchor="ctr"/>
          <a:lstStyle/>
          <a:p>
            <a:pPr indent="0" marL="0">
              <a:buNone/>
            </a:pPr>
            <a:r>
              <a:rPr lang="en-US" sz="1250" dirty="0">
                <a:solidFill>
                  <a:srgbClr val="6B7A90"/>
                </a:solidFill>
                <a:latin typeface="Calibri" pitchFamily="34" charset="0"/>
                <a:ea typeface="Calibri" pitchFamily="34" charset="-122"/>
                <a:cs typeface="Calibri" pitchFamily="34" charset="-120"/>
              </a:rPr>
              <a:t>Bối cảnh, tính cấp thiết và phát biểu bài toán</a:t>
            </a:r>
            <a:endParaRPr lang="en-US" sz="1250" dirty="0"/>
          </a:p>
        </p:txBody>
      </p:sp>
      <p:sp>
        <p:nvSpPr>
          <p:cNvPr id="10" name="Shape 7"/>
          <p:cNvSpPr/>
          <p:nvPr/>
        </p:nvSpPr>
        <p:spPr>
          <a:xfrm>
            <a:off x="594360" y="2659532"/>
            <a:ext cx="11000232" cy="786384"/>
          </a:xfrm>
          <a:prstGeom prst="roundRect">
            <a:avLst>
              <a:gd name="adj" fmla="val 1046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1" name="Shape 8"/>
          <p:cNvSpPr/>
          <p:nvPr/>
        </p:nvSpPr>
        <p:spPr>
          <a:xfrm>
            <a:off x="905256" y="2861158"/>
            <a:ext cx="402336" cy="402336"/>
          </a:xfrm>
          <a:prstGeom prst="ellipse">
            <a:avLst/>
          </a:prstGeom>
          <a:solidFill>
            <a:srgbClr val="E8A33D"/>
          </a:solidFill>
          <a:ln w="12700">
            <a:solidFill>
              <a:srgbClr val="E8A33D"/>
            </a:solidFill>
            <a:prstDash val="solid"/>
          </a:ln>
        </p:spPr>
      </p:sp>
      <p:sp>
        <p:nvSpPr>
          <p:cNvPr id="12" name="Text 9"/>
          <p:cNvSpPr/>
          <p:nvPr/>
        </p:nvSpPr>
        <p:spPr>
          <a:xfrm>
            <a:off x="905256" y="286115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1508760" y="2774747"/>
            <a:ext cx="4023360" cy="292608"/>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Dữ liệu và vấn đề phát hiện được</a:t>
            </a:r>
            <a:endParaRPr lang="en-US" sz="1600" dirty="0"/>
          </a:p>
        </p:txBody>
      </p:sp>
      <p:sp>
        <p:nvSpPr>
          <p:cNvPr id="14" name="Text 11"/>
          <p:cNvSpPr/>
          <p:nvPr/>
        </p:nvSpPr>
        <p:spPr>
          <a:xfrm>
            <a:off x="1508760" y="3101188"/>
            <a:ext cx="8595360" cy="274320"/>
          </a:xfrm>
          <a:prstGeom prst="rect">
            <a:avLst/>
          </a:prstGeom>
          <a:noFill/>
          <a:ln/>
        </p:spPr>
        <p:txBody>
          <a:bodyPr wrap="square" lIns="0" tIns="0" rIns="0" bIns="0" rtlCol="0" anchor="ctr"/>
          <a:lstStyle/>
          <a:p>
            <a:pPr indent="0" marL="0">
              <a:buNone/>
            </a:pPr>
            <a:r>
              <a:rPr lang="en-US" sz="1250" dirty="0">
                <a:solidFill>
                  <a:srgbClr val="6B7A90"/>
                </a:solidFill>
                <a:latin typeface="Calibri" pitchFamily="34" charset="0"/>
                <a:ea typeface="Calibri" pitchFamily="34" charset="-122"/>
                <a:cs typeface="Calibri" pitchFamily="34" charset="-120"/>
              </a:rPr>
              <a:t>Bộ DDD và hiện tượng rò rỉ danh tính</a:t>
            </a:r>
            <a:endParaRPr lang="en-US" sz="1250" dirty="0"/>
          </a:p>
        </p:txBody>
      </p:sp>
      <p:sp>
        <p:nvSpPr>
          <p:cNvPr id="15" name="Shape 12"/>
          <p:cNvSpPr/>
          <p:nvPr/>
        </p:nvSpPr>
        <p:spPr>
          <a:xfrm>
            <a:off x="594360" y="3638855"/>
            <a:ext cx="11000232" cy="786384"/>
          </a:xfrm>
          <a:prstGeom prst="roundRect">
            <a:avLst>
              <a:gd name="adj" fmla="val 1046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6" name="Shape 13"/>
          <p:cNvSpPr/>
          <p:nvPr/>
        </p:nvSpPr>
        <p:spPr>
          <a:xfrm>
            <a:off x="905256" y="3840480"/>
            <a:ext cx="402336" cy="402336"/>
          </a:xfrm>
          <a:prstGeom prst="ellipse">
            <a:avLst/>
          </a:prstGeom>
          <a:solidFill>
            <a:srgbClr val="E8A33D"/>
          </a:solidFill>
          <a:ln w="12700">
            <a:solidFill>
              <a:srgbClr val="E8A33D"/>
            </a:solidFill>
            <a:prstDash val="solid"/>
          </a:ln>
        </p:spPr>
      </p:sp>
      <p:sp>
        <p:nvSpPr>
          <p:cNvPr id="17" name="Text 14"/>
          <p:cNvSpPr/>
          <p:nvPr/>
        </p:nvSpPr>
        <p:spPr>
          <a:xfrm>
            <a:off x="905256" y="3840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508760" y="3754069"/>
            <a:ext cx="4023360" cy="292608"/>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Phương pháp đề xuất</a:t>
            </a:r>
            <a:endParaRPr lang="en-US" sz="1600" dirty="0"/>
          </a:p>
        </p:txBody>
      </p:sp>
      <p:sp>
        <p:nvSpPr>
          <p:cNvPr id="19" name="Text 16"/>
          <p:cNvSpPr/>
          <p:nvPr/>
        </p:nvSpPr>
        <p:spPr>
          <a:xfrm>
            <a:off x="1508760" y="4080510"/>
            <a:ext cx="8595360" cy="274320"/>
          </a:xfrm>
          <a:prstGeom prst="rect">
            <a:avLst/>
          </a:prstGeom>
          <a:noFill/>
          <a:ln/>
        </p:spPr>
        <p:txBody>
          <a:bodyPr wrap="square" lIns="0" tIns="0" rIns="0" bIns="0" rtlCol="0" anchor="ctr"/>
          <a:lstStyle/>
          <a:p>
            <a:pPr indent="0" marL="0">
              <a:buNone/>
            </a:pPr>
            <a:r>
              <a:rPr lang="en-US" sz="1250" dirty="0">
                <a:solidFill>
                  <a:srgbClr val="6B7A90"/>
                </a:solidFill>
                <a:latin typeface="Calibri" pitchFamily="34" charset="0"/>
                <a:ea typeface="Calibri" pitchFamily="34" charset="-122"/>
                <a:cs typeface="Calibri" pitchFamily="34" charset="-120"/>
              </a:rPr>
              <a:t>Quy trình, hai giao thức chia dữ liệu, ba kiến trúc</a:t>
            </a:r>
            <a:endParaRPr lang="en-US" sz="1250" dirty="0"/>
          </a:p>
        </p:txBody>
      </p:sp>
      <p:sp>
        <p:nvSpPr>
          <p:cNvPr id="20" name="Shape 17"/>
          <p:cNvSpPr/>
          <p:nvPr/>
        </p:nvSpPr>
        <p:spPr>
          <a:xfrm>
            <a:off x="594360" y="4618177"/>
            <a:ext cx="11000232" cy="786384"/>
          </a:xfrm>
          <a:prstGeom prst="roundRect">
            <a:avLst>
              <a:gd name="adj" fmla="val 1046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21" name="Shape 18"/>
          <p:cNvSpPr/>
          <p:nvPr/>
        </p:nvSpPr>
        <p:spPr>
          <a:xfrm>
            <a:off x="905256" y="4819802"/>
            <a:ext cx="402336" cy="402336"/>
          </a:xfrm>
          <a:prstGeom prst="ellipse">
            <a:avLst/>
          </a:prstGeom>
          <a:solidFill>
            <a:srgbClr val="E8A33D"/>
          </a:solidFill>
          <a:ln w="12700">
            <a:solidFill>
              <a:srgbClr val="E8A33D"/>
            </a:solidFill>
            <a:prstDash val="solid"/>
          </a:ln>
        </p:spPr>
      </p:sp>
      <p:sp>
        <p:nvSpPr>
          <p:cNvPr id="22" name="Text 19"/>
          <p:cNvSpPr/>
          <p:nvPr/>
        </p:nvSpPr>
        <p:spPr>
          <a:xfrm>
            <a:off x="905256" y="481980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1508760" y="4733392"/>
            <a:ext cx="4023360" cy="292608"/>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Kết quả thực nghiệm</a:t>
            </a:r>
            <a:endParaRPr lang="en-US" sz="1600" dirty="0"/>
          </a:p>
        </p:txBody>
      </p:sp>
      <p:sp>
        <p:nvSpPr>
          <p:cNvPr id="24" name="Text 21"/>
          <p:cNvSpPr/>
          <p:nvPr/>
        </p:nvSpPr>
        <p:spPr>
          <a:xfrm>
            <a:off x="1508760" y="5059832"/>
            <a:ext cx="8595360" cy="274320"/>
          </a:xfrm>
          <a:prstGeom prst="rect">
            <a:avLst/>
          </a:prstGeom>
          <a:noFill/>
          <a:ln/>
        </p:spPr>
        <p:txBody>
          <a:bodyPr wrap="square" lIns="0" tIns="0" rIns="0" bIns="0" rtlCol="0" anchor="ctr"/>
          <a:lstStyle/>
          <a:p>
            <a:pPr indent="0" marL="0">
              <a:buNone/>
            </a:pPr>
            <a:r>
              <a:rPr lang="en-US" sz="1250" dirty="0">
                <a:solidFill>
                  <a:srgbClr val="6B7A90"/>
                </a:solidFill>
                <a:latin typeface="Calibri" pitchFamily="34" charset="0"/>
                <a:ea typeface="Calibri" pitchFamily="34" charset="-122"/>
                <a:cs typeface="Calibri" pitchFamily="34" charset="-120"/>
              </a:rPr>
              <a:t>Độ đo, ma trận nhầm lẫn, so sánh và Grad-CAM</a:t>
            </a:r>
            <a:endParaRPr lang="en-US" sz="1250" dirty="0"/>
          </a:p>
        </p:txBody>
      </p:sp>
      <p:sp>
        <p:nvSpPr>
          <p:cNvPr id="25" name="Shape 22"/>
          <p:cNvSpPr/>
          <p:nvPr/>
        </p:nvSpPr>
        <p:spPr>
          <a:xfrm>
            <a:off x="594360" y="5597500"/>
            <a:ext cx="11000232" cy="786384"/>
          </a:xfrm>
          <a:prstGeom prst="roundRect">
            <a:avLst>
              <a:gd name="adj" fmla="val 1046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26" name="Shape 23"/>
          <p:cNvSpPr/>
          <p:nvPr/>
        </p:nvSpPr>
        <p:spPr>
          <a:xfrm>
            <a:off x="905256" y="5799125"/>
            <a:ext cx="402336" cy="402336"/>
          </a:xfrm>
          <a:prstGeom prst="ellipse">
            <a:avLst/>
          </a:prstGeom>
          <a:solidFill>
            <a:srgbClr val="E8A33D"/>
          </a:solidFill>
          <a:ln w="12700">
            <a:solidFill>
              <a:srgbClr val="E8A33D"/>
            </a:solidFill>
            <a:prstDash val="solid"/>
          </a:ln>
        </p:spPr>
      </p:sp>
      <p:sp>
        <p:nvSpPr>
          <p:cNvPr id="27" name="Text 24"/>
          <p:cNvSpPr/>
          <p:nvPr/>
        </p:nvSpPr>
        <p:spPr>
          <a:xfrm>
            <a:off x="905256" y="57991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5"/>
          <p:cNvSpPr/>
          <p:nvPr/>
        </p:nvSpPr>
        <p:spPr>
          <a:xfrm>
            <a:off x="1508760" y="5712714"/>
            <a:ext cx="4023360" cy="292608"/>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Kết luận</a:t>
            </a:r>
            <a:endParaRPr lang="en-US" sz="1600" dirty="0"/>
          </a:p>
        </p:txBody>
      </p:sp>
      <p:sp>
        <p:nvSpPr>
          <p:cNvPr id="29" name="Text 26"/>
          <p:cNvSpPr/>
          <p:nvPr/>
        </p:nvSpPr>
        <p:spPr>
          <a:xfrm>
            <a:off x="1508760" y="6039155"/>
            <a:ext cx="8595360" cy="274320"/>
          </a:xfrm>
          <a:prstGeom prst="rect">
            <a:avLst/>
          </a:prstGeom>
          <a:noFill/>
          <a:ln/>
        </p:spPr>
        <p:txBody>
          <a:bodyPr wrap="square" lIns="0" tIns="0" rIns="0" bIns="0" rtlCol="0" anchor="ctr"/>
          <a:lstStyle/>
          <a:p>
            <a:pPr indent="0" marL="0">
              <a:buNone/>
            </a:pPr>
            <a:r>
              <a:rPr lang="en-US" sz="1250" dirty="0">
                <a:solidFill>
                  <a:srgbClr val="6B7A90"/>
                </a:solidFill>
                <a:latin typeface="Calibri" pitchFamily="34" charset="0"/>
                <a:ea typeface="Calibri" pitchFamily="34" charset="-122"/>
                <a:cs typeface="Calibri" pitchFamily="34" charset="-120"/>
              </a:rPr>
              <a:t>Đóng góp, hạn chế và hướng phát triển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2</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Bối cảnh và tính cấp thiết</a:t>
            </a:r>
            <a:endParaRPr lang="en-US" sz="3200" dirty="0"/>
          </a:p>
        </p:txBody>
      </p:sp>
      <p:sp>
        <p:nvSpPr>
          <p:cNvPr id="5" name="Shape 2"/>
          <p:cNvSpPr/>
          <p:nvPr/>
        </p:nvSpPr>
        <p:spPr>
          <a:xfrm>
            <a:off x="594360" y="1776222"/>
            <a:ext cx="3453384" cy="1783080"/>
          </a:xfrm>
          <a:prstGeom prst="roundRect">
            <a:avLst>
              <a:gd name="adj" fmla="val 461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6" name="Text 3"/>
          <p:cNvSpPr/>
          <p:nvPr/>
        </p:nvSpPr>
        <p:spPr>
          <a:xfrm>
            <a:off x="594360" y="1968246"/>
            <a:ext cx="3453384" cy="777240"/>
          </a:xfrm>
          <a:prstGeom prst="rect">
            <a:avLst/>
          </a:prstGeom>
          <a:noFill/>
          <a:ln/>
        </p:spPr>
        <p:txBody>
          <a:bodyPr wrap="square" lIns="0" tIns="0" rIns="0" bIns="0" rtlCol="0" anchor="ctr"/>
          <a:lstStyle/>
          <a:p>
            <a:pPr algn="ctr" indent="0" marL="0">
              <a:buNone/>
            </a:pPr>
            <a:r>
              <a:rPr lang="en-US" sz="4400" b="1" dirty="0">
                <a:solidFill>
                  <a:srgbClr val="C6444A"/>
                </a:solidFill>
                <a:latin typeface="Cambria" pitchFamily="34" charset="0"/>
                <a:ea typeface="Cambria" pitchFamily="34" charset="-122"/>
                <a:cs typeface="Cambria" pitchFamily="34" charset="-120"/>
              </a:rPr>
              <a:t>[SỐ]</a:t>
            </a:r>
            <a:endParaRPr lang="en-US" sz="4400" dirty="0"/>
          </a:p>
        </p:txBody>
      </p:sp>
      <p:sp>
        <p:nvSpPr>
          <p:cNvPr id="7" name="Text 4"/>
          <p:cNvSpPr/>
          <p:nvPr/>
        </p:nvSpPr>
        <p:spPr>
          <a:xfrm>
            <a:off x="777240" y="2832354"/>
            <a:ext cx="3087624" cy="640080"/>
          </a:xfrm>
          <a:prstGeom prst="rect">
            <a:avLst/>
          </a:prstGeom>
          <a:noFill/>
          <a:ln/>
        </p:spPr>
        <p:txBody>
          <a:bodyPr wrap="square" lIns="0" tIns="0" rIns="0" bIns="0" rtlCol="0" anchor="ctr"/>
          <a:lstStyle/>
          <a:p>
            <a:pPr algn="ctr" indent="0" marL="0">
              <a:lnSpc>
                <a:spcPts val="1600"/>
              </a:lnSpc>
              <a:buNone/>
            </a:pPr>
            <a:r>
              <a:rPr lang="en-US" sz="1200" dirty="0">
                <a:solidFill>
                  <a:srgbClr val="6B7A90"/>
                </a:solidFill>
                <a:latin typeface="Calibri" pitchFamily="34" charset="0"/>
                <a:ea typeface="Calibri" pitchFamily="34" charset="-122"/>
                <a:cs typeface="Calibri" pitchFamily="34" charset="-120"/>
              </a:rPr>
              <a:t>vụ tai nạn mỗi năm liên quan</a:t>
            </a:r>
            <a:endParaRPr lang="en-US" sz="1200" dirty="0"/>
          </a:p>
          <a:p>
            <a:pPr algn="ctr" indent="0" marL="0">
              <a:lnSpc>
                <a:spcPts val="1600"/>
              </a:lnSpc>
              <a:buNone/>
            </a:pPr>
            <a:r>
              <a:rPr lang="en-US" sz="1200" dirty="0">
                <a:solidFill>
                  <a:srgbClr val="6B7A90"/>
                </a:solidFill>
                <a:latin typeface="Calibri" pitchFamily="34" charset="0"/>
                <a:ea typeface="Calibri" pitchFamily="34" charset="-122"/>
                <a:cs typeface="Calibri" pitchFamily="34" charset="-120"/>
              </a:rPr>
              <a:t>đến tài xế buồn ngủ</a:t>
            </a:r>
            <a:endParaRPr lang="en-US" sz="1200" dirty="0"/>
          </a:p>
        </p:txBody>
      </p:sp>
      <p:sp>
        <p:nvSpPr>
          <p:cNvPr id="8" name="Shape 5"/>
          <p:cNvSpPr/>
          <p:nvPr/>
        </p:nvSpPr>
        <p:spPr>
          <a:xfrm>
            <a:off x="4367784" y="1776222"/>
            <a:ext cx="3453384" cy="1783080"/>
          </a:xfrm>
          <a:prstGeom prst="roundRect">
            <a:avLst>
              <a:gd name="adj" fmla="val 461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9" name="Text 6"/>
          <p:cNvSpPr/>
          <p:nvPr/>
        </p:nvSpPr>
        <p:spPr>
          <a:xfrm>
            <a:off x="4367784" y="1968246"/>
            <a:ext cx="3453384" cy="777240"/>
          </a:xfrm>
          <a:prstGeom prst="rect">
            <a:avLst/>
          </a:prstGeom>
          <a:noFill/>
          <a:ln/>
        </p:spPr>
        <p:txBody>
          <a:bodyPr wrap="square" lIns="0" tIns="0" rIns="0" bIns="0" rtlCol="0" anchor="ctr"/>
          <a:lstStyle/>
          <a:p>
            <a:pPr algn="ctr" indent="0" marL="0">
              <a:buNone/>
            </a:pPr>
            <a:r>
              <a:rPr lang="en-US" sz="4400" b="1" dirty="0">
                <a:solidFill>
                  <a:srgbClr val="E8A33D"/>
                </a:solidFill>
                <a:latin typeface="Cambria" pitchFamily="34" charset="0"/>
                <a:ea typeface="Cambria" pitchFamily="34" charset="-122"/>
                <a:cs typeface="Cambria" pitchFamily="34" charset="-120"/>
              </a:rPr>
              <a:t>~3 giây</a:t>
            </a:r>
            <a:endParaRPr lang="en-US" sz="4400" dirty="0"/>
          </a:p>
        </p:txBody>
      </p:sp>
      <p:sp>
        <p:nvSpPr>
          <p:cNvPr id="10" name="Text 7"/>
          <p:cNvSpPr/>
          <p:nvPr/>
        </p:nvSpPr>
        <p:spPr>
          <a:xfrm>
            <a:off x="4550664" y="2832354"/>
            <a:ext cx="3087624" cy="640080"/>
          </a:xfrm>
          <a:prstGeom prst="rect">
            <a:avLst/>
          </a:prstGeom>
          <a:noFill/>
          <a:ln/>
        </p:spPr>
        <p:txBody>
          <a:bodyPr wrap="square" lIns="0" tIns="0" rIns="0" bIns="0" rtlCol="0" anchor="ctr"/>
          <a:lstStyle/>
          <a:p>
            <a:pPr algn="ctr" indent="0" marL="0">
              <a:lnSpc>
                <a:spcPts val="1600"/>
              </a:lnSpc>
              <a:buNone/>
            </a:pPr>
            <a:r>
              <a:rPr lang="en-US" sz="1200" dirty="0">
                <a:solidFill>
                  <a:srgbClr val="6B7A90"/>
                </a:solidFill>
                <a:latin typeface="Calibri" pitchFamily="34" charset="0"/>
                <a:ea typeface="Calibri" pitchFamily="34" charset="-122"/>
                <a:cs typeface="Calibri" pitchFamily="34" charset="-120"/>
              </a:rPr>
              <a:t>là thời gian một vi giấc ngủ</a:t>
            </a:r>
            <a:endParaRPr lang="en-US" sz="1200" dirty="0"/>
          </a:p>
          <a:p>
            <a:pPr algn="ctr" indent="0" marL="0">
              <a:lnSpc>
                <a:spcPts val="1600"/>
              </a:lnSpc>
              <a:buNone/>
            </a:pPr>
            <a:r>
              <a:rPr lang="en-US" sz="1200" dirty="0">
                <a:solidFill>
                  <a:srgbClr val="6B7A90"/>
                </a:solidFill>
                <a:latin typeface="Calibri" pitchFamily="34" charset="0"/>
                <a:ea typeface="Calibri" pitchFamily="34" charset="-122"/>
                <a:cs typeface="Calibri" pitchFamily="34" charset="-120"/>
              </a:rPr>
              <a:t>kéo dài ở tốc độ cao</a:t>
            </a:r>
            <a:endParaRPr lang="en-US" sz="1200" dirty="0"/>
          </a:p>
        </p:txBody>
      </p:sp>
      <p:sp>
        <p:nvSpPr>
          <p:cNvPr id="11" name="Shape 8"/>
          <p:cNvSpPr/>
          <p:nvPr/>
        </p:nvSpPr>
        <p:spPr>
          <a:xfrm>
            <a:off x="8141208" y="1776222"/>
            <a:ext cx="3453384" cy="1783080"/>
          </a:xfrm>
          <a:prstGeom prst="roundRect">
            <a:avLst>
              <a:gd name="adj" fmla="val 461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2" name="Text 9"/>
          <p:cNvSpPr/>
          <p:nvPr/>
        </p:nvSpPr>
        <p:spPr>
          <a:xfrm>
            <a:off x="8141208" y="1968246"/>
            <a:ext cx="3453384" cy="777240"/>
          </a:xfrm>
          <a:prstGeom prst="rect">
            <a:avLst/>
          </a:prstGeom>
          <a:noFill/>
          <a:ln/>
        </p:spPr>
        <p:txBody>
          <a:bodyPr wrap="square" lIns="0" tIns="0" rIns="0" bIns="0" rtlCol="0" anchor="ctr"/>
          <a:lstStyle/>
          <a:p>
            <a:pPr algn="ctr" indent="0" marL="0">
              <a:buNone/>
            </a:pPr>
            <a:r>
              <a:rPr lang="en-US" sz="4400" b="1" dirty="0">
                <a:solidFill>
                  <a:srgbClr val="2E8B8B"/>
                </a:solidFill>
                <a:latin typeface="Cambria" pitchFamily="34" charset="0"/>
                <a:ea typeface="Cambria" pitchFamily="34" charset="-122"/>
                <a:cs typeface="Cambria" pitchFamily="34" charset="-120"/>
              </a:rPr>
              <a:t>0 đ</a:t>
            </a:r>
            <a:endParaRPr lang="en-US" sz="4400" dirty="0"/>
          </a:p>
        </p:txBody>
      </p:sp>
      <p:sp>
        <p:nvSpPr>
          <p:cNvPr id="13" name="Text 10"/>
          <p:cNvSpPr/>
          <p:nvPr/>
        </p:nvSpPr>
        <p:spPr>
          <a:xfrm>
            <a:off x="8324088" y="2832354"/>
            <a:ext cx="3087624" cy="640080"/>
          </a:xfrm>
          <a:prstGeom prst="rect">
            <a:avLst/>
          </a:prstGeom>
          <a:noFill/>
          <a:ln/>
        </p:spPr>
        <p:txBody>
          <a:bodyPr wrap="square" lIns="0" tIns="0" rIns="0" bIns="0" rtlCol="0" anchor="ctr"/>
          <a:lstStyle/>
          <a:p>
            <a:pPr algn="ctr" indent="0" marL="0">
              <a:lnSpc>
                <a:spcPts val="1600"/>
              </a:lnSpc>
              <a:buNone/>
            </a:pPr>
            <a:r>
              <a:rPr lang="en-US" sz="1200" dirty="0">
                <a:solidFill>
                  <a:srgbClr val="6B7A90"/>
                </a:solidFill>
                <a:latin typeface="Calibri" pitchFamily="34" charset="0"/>
                <a:ea typeface="Calibri" pitchFamily="34" charset="-122"/>
                <a:cs typeface="Calibri" pitchFamily="34" charset="-120"/>
              </a:rPr>
              <a:t>chi phí cảm biến thêm — chỉ cần</a:t>
            </a:r>
            <a:endParaRPr lang="en-US" sz="1200" dirty="0"/>
          </a:p>
          <a:p>
            <a:pPr algn="ctr" indent="0" marL="0">
              <a:lnSpc>
                <a:spcPts val="1600"/>
              </a:lnSpc>
              <a:buNone/>
            </a:pPr>
            <a:r>
              <a:rPr lang="en-US" sz="1200" dirty="0">
                <a:solidFill>
                  <a:srgbClr val="6B7A90"/>
                </a:solidFill>
                <a:latin typeface="Calibri" pitchFamily="34" charset="0"/>
                <a:ea typeface="Calibri" pitchFamily="34" charset="-122"/>
                <a:cs typeface="Calibri" pitchFamily="34" charset="-120"/>
              </a:rPr>
              <a:t>một camera có sẵn trong cabin</a:t>
            </a:r>
            <a:endParaRPr lang="en-US" sz="1200" dirty="0"/>
          </a:p>
        </p:txBody>
      </p:sp>
      <p:sp>
        <p:nvSpPr>
          <p:cNvPr id="14" name="Text 11"/>
          <p:cNvSpPr/>
          <p:nvPr/>
        </p:nvSpPr>
        <p:spPr>
          <a:xfrm>
            <a:off x="594360" y="3984498"/>
            <a:ext cx="5486400" cy="320040"/>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Vì sao tiếp cận bằng thị giác máy tính</a:t>
            </a:r>
            <a:endParaRPr lang="en-US" sz="1600" dirty="0"/>
          </a:p>
        </p:txBody>
      </p:sp>
      <p:sp>
        <p:nvSpPr>
          <p:cNvPr id="15" name="Text 12"/>
          <p:cNvSpPr/>
          <p:nvPr/>
        </p:nvSpPr>
        <p:spPr>
          <a:xfrm>
            <a:off x="594360" y="4416552"/>
            <a:ext cx="11000232" cy="17373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C3E56"/>
                </a:solidFill>
                <a:latin typeface="Calibri" pitchFamily="34" charset="0"/>
                <a:ea typeface="Calibri" pitchFamily="34" charset="-122"/>
                <a:cs typeface="Calibri" pitchFamily="34" charset="-120"/>
              </a:rPr>
              <a:t>Dấu hiệu buồn ngủ biểu hiện rõ trên khuôn mặt: nhắm mắt kéo dài, ngáp, đầu gật gù</a:t>
            </a:r>
            <a:endParaRPr lang="en-US" sz="1400" dirty="0"/>
          </a:p>
          <a:p>
            <a:pPr marL="342900" indent="-342900">
              <a:spcAft>
                <a:spcPts val="800"/>
              </a:spcAft>
              <a:buSzPct val="100000"/>
              <a:buChar char="•"/>
            </a:pPr>
            <a:r>
              <a:rPr lang="en-US" sz="1400" dirty="0">
                <a:solidFill>
                  <a:srgbClr val="2C3E56"/>
                </a:solidFill>
                <a:latin typeface="Calibri" pitchFamily="34" charset="0"/>
                <a:ea typeface="Calibri" pitchFamily="34" charset="-122"/>
                <a:cs typeface="Calibri" pitchFamily="34" charset="-120"/>
              </a:rPr>
              <a:t>Không xâm lấn — không cần điện não đồ hay cảm biến gắn lên cơ thể tài xế</a:t>
            </a:r>
            <a:endParaRPr lang="en-US" sz="1400" dirty="0"/>
          </a:p>
          <a:p>
            <a:pPr marL="342900" indent="-342900">
              <a:spcAft>
                <a:spcPts val="800"/>
              </a:spcAft>
              <a:buSzPct val="100000"/>
              <a:buChar char="•"/>
            </a:pPr>
            <a:r>
              <a:rPr lang="en-US" sz="1400" dirty="0">
                <a:solidFill>
                  <a:srgbClr val="2C3E56"/>
                </a:solidFill>
                <a:latin typeface="Calibri" pitchFamily="34" charset="0"/>
                <a:ea typeface="Calibri" pitchFamily="34" charset="-122"/>
                <a:cs typeface="Calibri" pitchFamily="34" charset="-120"/>
              </a:rPr>
              <a:t>Chi phí triển khai thấp, tận dụng camera và chip xử lý đã có sẵn trên xe</a:t>
            </a:r>
            <a:endParaRPr lang="en-US" sz="1400" dirty="0"/>
          </a:p>
          <a:p>
            <a:pPr marL="342900" indent="-342900">
              <a:spcAft>
                <a:spcPts val="800"/>
              </a:spcAft>
              <a:buSzPct val="100000"/>
              <a:buChar char="•"/>
            </a:pPr>
            <a:r>
              <a:rPr lang="en-US" sz="1400" dirty="0">
                <a:solidFill>
                  <a:srgbClr val="2C3E56"/>
                </a:solidFill>
                <a:latin typeface="Calibri" pitchFamily="34" charset="0"/>
                <a:ea typeface="Calibri" pitchFamily="34" charset="-122"/>
                <a:cs typeface="Calibri" pitchFamily="34" charset="-120"/>
              </a:rPr>
              <a:t>Mô hình nhẹ cho phép suy luận thời gian thực ngay trên thiết bị biên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3</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Phát biểu bài toán</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Phân loại nhị phân trên ảnh khuôn mặt</a:t>
            </a:r>
            <a:endParaRPr lang="en-US" sz="1400" dirty="0"/>
          </a:p>
        </p:txBody>
      </p:sp>
      <p:sp>
        <p:nvSpPr>
          <p:cNvPr id="6" name="Shape 3"/>
          <p:cNvSpPr/>
          <p:nvPr/>
        </p:nvSpPr>
        <p:spPr>
          <a:xfrm>
            <a:off x="594360" y="1776222"/>
            <a:ext cx="4997196" cy="2286000"/>
          </a:xfrm>
          <a:prstGeom prst="roundRect">
            <a:avLst>
              <a:gd name="adj" fmla="val 3600"/>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7" name="Text 4"/>
          <p:cNvSpPr/>
          <p:nvPr/>
        </p:nvSpPr>
        <p:spPr>
          <a:xfrm>
            <a:off x="960120" y="2016252"/>
            <a:ext cx="4265676" cy="274320"/>
          </a:xfrm>
          <a:prstGeom prst="rect">
            <a:avLst/>
          </a:prstGeom>
          <a:noFill/>
          <a:ln/>
        </p:spPr>
        <p:txBody>
          <a:bodyPr wrap="square" lIns="0" tIns="0" rIns="0" bIns="0" rtlCol="0" anchor="ctr"/>
          <a:lstStyle/>
          <a:p>
            <a:pPr indent="0" marL="0">
              <a:buNone/>
            </a:pPr>
            <a:r>
              <a:rPr lang="en-US" sz="1200" b="1" spc="200" kern="0" dirty="0">
                <a:solidFill>
                  <a:srgbClr val="2E8B8B"/>
                </a:solidFill>
                <a:latin typeface="Calibri" pitchFamily="34" charset="0"/>
                <a:ea typeface="Calibri" pitchFamily="34" charset="-122"/>
                <a:cs typeface="Calibri" pitchFamily="34" charset="-120"/>
              </a:rPr>
              <a:t>ĐẦU VÀO</a:t>
            </a:r>
            <a:endParaRPr lang="en-US" sz="1200" dirty="0"/>
          </a:p>
        </p:txBody>
      </p:sp>
      <p:sp>
        <p:nvSpPr>
          <p:cNvPr id="8" name="Text 5"/>
          <p:cNvSpPr/>
          <p:nvPr/>
        </p:nvSpPr>
        <p:spPr>
          <a:xfrm>
            <a:off x="960120" y="2400300"/>
            <a:ext cx="4265676" cy="155448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2C3E56"/>
                </a:solidFill>
                <a:latin typeface="Calibri" pitchFamily="34" charset="0"/>
                <a:ea typeface="Calibri" pitchFamily="34" charset="-122"/>
                <a:cs typeface="Calibri" pitchFamily="34" charset="-120"/>
              </a:rPr>
              <a:t>Ảnh màu RGB chứa khuôn mặt tài xế</a:t>
            </a:r>
            <a:endParaRPr lang="en-US" sz="1350" dirty="0"/>
          </a:p>
          <a:p>
            <a:pPr marL="342900" indent="-342900">
              <a:spcAft>
                <a:spcPts val="600"/>
              </a:spcAft>
              <a:buSzPct val="100000"/>
              <a:buChar char="•"/>
            </a:pPr>
            <a:r>
              <a:rPr lang="en-US" sz="1350" dirty="0">
                <a:solidFill>
                  <a:srgbClr val="2C3E56"/>
                </a:solidFill>
                <a:latin typeface="Calibri" pitchFamily="34" charset="0"/>
                <a:ea typeface="Calibri" pitchFamily="34" charset="-122"/>
                <a:cs typeface="Calibri" pitchFamily="34" charset="-120"/>
              </a:rPr>
              <a:t>Kích thước chuẩn hoá 224 × 224 × 3</a:t>
            </a:r>
            <a:endParaRPr lang="en-US" sz="1350" dirty="0"/>
          </a:p>
          <a:p>
            <a:pPr marL="342900" indent="-342900">
              <a:spcAft>
                <a:spcPts val="600"/>
              </a:spcAft>
              <a:buSzPct val="100000"/>
              <a:buChar char="•"/>
            </a:pPr>
            <a:r>
              <a:rPr lang="en-US" sz="1350" dirty="0">
                <a:solidFill>
                  <a:srgbClr val="2C3E56"/>
                </a:solidFill>
                <a:latin typeface="Calibri" pitchFamily="34" charset="0"/>
                <a:ea typeface="Calibri" pitchFamily="34" charset="-122"/>
                <a:cs typeface="Calibri" pitchFamily="34" charset="-120"/>
              </a:rPr>
              <a:t>Thu từ camera trong cabin xe</a:t>
            </a:r>
            <a:endParaRPr lang="en-US" sz="1350" dirty="0"/>
          </a:p>
          <a:p>
            <a:pPr marL="342900" indent="-342900">
              <a:spcAft>
                <a:spcPts val="600"/>
              </a:spcAft>
              <a:buSzPct val="100000"/>
              <a:buChar char="•"/>
            </a:pPr>
            <a:r>
              <a:rPr lang="en-US" sz="1350" dirty="0">
                <a:solidFill>
                  <a:srgbClr val="2C3E56"/>
                </a:solidFill>
                <a:latin typeface="Calibri" pitchFamily="34" charset="0"/>
                <a:ea typeface="Calibri" pitchFamily="34" charset="-122"/>
                <a:cs typeface="Calibri" pitchFamily="34" charset="-120"/>
              </a:rPr>
              <a:t>Điều kiện sáng và tư thế đầu không kiểm soát</a:t>
            </a:r>
            <a:endParaRPr lang="en-US" sz="1350" dirty="0"/>
          </a:p>
        </p:txBody>
      </p:sp>
      <p:sp>
        <p:nvSpPr>
          <p:cNvPr id="9" name="Shape 6"/>
          <p:cNvSpPr/>
          <p:nvPr/>
        </p:nvSpPr>
        <p:spPr>
          <a:xfrm>
            <a:off x="6597396" y="1776222"/>
            <a:ext cx="4997196" cy="2286000"/>
          </a:xfrm>
          <a:prstGeom prst="roundRect">
            <a:avLst>
              <a:gd name="adj" fmla="val 3600"/>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0" name="Text 7"/>
          <p:cNvSpPr/>
          <p:nvPr/>
        </p:nvSpPr>
        <p:spPr>
          <a:xfrm>
            <a:off x="6963156" y="2016252"/>
            <a:ext cx="4265676"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ĐẦU RA</a:t>
            </a:r>
            <a:endParaRPr lang="en-US" sz="1200" dirty="0"/>
          </a:p>
        </p:txBody>
      </p:sp>
      <p:sp>
        <p:nvSpPr>
          <p:cNvPr id="11" name="Text 8"/>
          <p:cNvSpPr/>
          <p:nvPr/>
        </p:nvSpPr>
        <p:spPr>
          <a:xfrm>
            <a:off x="6963156" y="2400300"/>
            <a:ext cx="4265676" cy="155448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2C3E56"/>
                </a:solidFill>
                <a:latin typeface="Calibri" pitchFamily="34" charset="0"/>
                <a:ea typeface="Calibri" pitchFamily="34" charset="-122"/>
                <a:cs typeface="Calibri" pitchFamily="34" charset="-120"/>
              </a:rPr>
              <a:t>Nhãn thuộc {Non-Drowsy, Drowsy}</a:t>
            </a:r>
            <a:endParaRPr lang="en-US" sz="1350" dirty="0"/>
          </a:p>
          <a:p>
            <a:pPr marL="342900" indent="-342900">
              <a:spcAft>
                <a:spcPts val="600"/>
              </a:spcAft>
              <a:buSzPct val="100000"/>
              <a:buChar char="•"/>
            </a:pPr>
            <a:r>
              <a:rPr lang="en-US" sz="1350" dirty="0">
                <a:solidFill>
                  <a:srgbClr val="2C3E56"/>
                </a:solidFill>
                <a:latin typeface="Calibri" pitchFamily="34" charset="0"/>
                <a:ea typeface="Calibri" pitchFamily="34" charset="-122"/>
                <a:cs typeface="Calibri" pitchFamily="34" charset="-120"/>
              </a:rPr>
              <a:t>Xác suất p ∈ [0, 1] kèm theo dự đoán</a:t>
            </a:r>
            <a:endParaRPr lang="en-US" sz="1350" dirty="0"/>
          </a:p>
          <a:p>
            <a:pPr marL="342900" indent="-342900">
              <a:spcAft>
                <a:spcPts val="600"/>
              </a:spcAft>
              <a:buSzPct val="100000"/>
              <a:buChar char="•"/>
            </a:pPr>
            <a:r>
              <a:rPr lang="en-US" sz="1350" dirty="0">
                <a:solidFill>
                  <a:srgbClr val="2C3E56"/>
                </a:solidFill>
                <a:latin typeface="Calibri" pitchFamily="34" charset="0"/>
                <a:ea typeface="Calibri" pitchFamily="34" charset="-122"/>
                <a:cs typeface="Calibri" pitchFamily="34" charset="-120"/>
              </a:rPr>
              <a:t>Ngưỡng phân loại mặc định 0,5</a:t>
            </a:r>
            <a:endParaRPr lang="en-US" sz="1350" dirty="0"/>
          </a:p>
          <a:p>
            <a:pPr marL="342900" indent="-342900">
              <a:spcAft>
                <a:spcPts val="600"/>
              </a:spcAft>
              <a:buSzPct val="100000"/>
              <a:buChar char="•"/>
            </a:pPr>
            <a:r>
              <a:rPr lang="en-US" sz="1350" dirty="0">
                <a:solidFill>
                  <a:srgbClr val="2C3E56"/>
                </a:solidFill>
                <a:latin typeface="Calibri" pitchFamily="34" charset="0"/>
                <a:ea typeface="Calibri" pitchFamily="34" charset="-122"/>
                <a:cs typeface="Calibri" pitchFamily="34" charset="-120"/>
              </a:rPr>
              <a:t>Kèm bản đồ nhiệt Grad-CAM giải thích</a:t>
            </a:r>
            <a:endParaRPr lang="en-US" sz="1350" dirty="0"/>
          </a:p>
        </p:txBody>
      </p:sp>
      <p:sp>
        <p:nvSpPr>
          <p:cNvPr id="12" name="Shape 9"/>
          <p:cNvSpPr/>
          <p:nvPr/>
        </p:nvSpPr>
        <p:spPr>
          <a:xfrm>
            <a:off x="5811012" y="2736342"/>
            <a:ext cx="548640" cy="365760"/>
          </a:xfrm>
          <a:prstGeom prst="rightArrow">
            <a:avLst/>
          </a:prstGeom>
          <a:solidFill>
            <a:srgbClr val="C3CEDC"/>
          </a:solidFill>
          <a:ln w="12700">
            <a:solidFill>
              <a:srgbClr val="C3CEDC"/>
            </a:solidFill>
            <a:prstDash val="solid"/>
          </a:ln>
        </p:spPr>
      </p:sp>
      <p:sp>
        <p:nvSpPr>
          <p:cNvPr id="13" name="Shape 10"/>
          <p:cNvSpPr/>
          <p:nvPr/>
        </p:nvSpPr>
        <p:spPr>
          <a:xfrm>
            <a:off x="594360" y="4464558"/>
            <a:ext cx="11000232" cy="1371600"/>
          </a:xfrm>
          <a:prstGeom prst="roundRect">
            <a:avLst>
              <a:gd name="adj" fmla="val 6000"/>
            </a:avLst>
          </a:prstGeom>
          <a:solidFill>
            <a:srgbClr val="FDF3E3"/>
          </a:solidFill>
          <a:ln w="12700">
            <a:solidFill>
              <a:srgbClr val="FDF3E3"/>
            </a:solidFill>
            <a:prstDash val="solid"/>
          </a:ln>
          <a:effectLst>
            <a:outerShdw sx="100000" sy="100000" kx="0" ky="0" algn="bl" rotWithShape="0" blurRad="127000" dist="25400" dir="5400000">
              <a:srgbClr val="9AA8BC">
                <a:alpha val="10000"/>
              </a:srgbClr>
            </a:outerShdw>
          </a:effectLst>
        </p:spPr>
      </p:sp>
      <p:sp>
        <p:nvSpPr>
          <p:cNvPr id="14" name="Text 11"/>
          <p:cNvSpPr/>
          <p:nvPr/>
        </p:nvSpPr>
        <p:spPr>
          <a:xfrm>
            <a:off x="1005840" y="4704588"/>
            <a:ext cx="3657600" cy="274320"/>
          </a:xfrm>
          <a:prstGeom prst="rect">
            <a:avLst/>
          </a:prstGeom>
          <a:noFill/>
          <a:ln/>
        </p:spPr>
        <p:txBody>
          <a:bodyPr wrap="square" lIns="0" tIns="0" rIns="0" bIns="0" rtlCol="0" anchor="ctr"/>
          <a:lstStyle/>
          <a:p>
            <a:pPr indent="0" marL="0">
              <a:buNone/>
            </a:pPr>
            <a:r>
              <a:rPr lang="en-US" sz="1400" b="1" dirty="0">
                <a:solidFill>
                  <a:srgbClr val="A9701F"/>
                </a:solidFill>
                <a:latin typeface="Calibri" pitchFamily="34" charset="0"/>
                <a:ea typeface="Calibri" pitchFamily="34" charset="-122"/>
                <a:cs typeface="Calibri" pitchFamily="34" charset="-120"/>
              </a:rPr>
              <a:t>Ràng buộc then chốt</a:t>
            </a:r>
            <a:endParaRPr lang="en-US" sz="1400" dirty="0"/>
          </a:p>
        </p:txBody>
      </p:sp>
      <p:sp>
        <p:nvSpPr>
          <p:cNvPr id="15" name="Text 12"/>
          <p:cNvSpPr/>
          <p:nvPr/>
        </p:nvSpPr>
        <p:spPr>
          <a:xfrm>
            <a:off x="1005840" y="5040630"/>
            <a:ext cx="10177272" cy="685800"/>
          </a:xfrm>
          <a:prstGeom prst="rect">
            <a:avLst/>
          </a:prstGeom>
          <a:noFill/>
          <a:ln/>
        </p:spPr>
        <p:txBody>
          <a:bodyPr wrap="square" lIns="0" tIns="0" rIns="0" bIns="0" rtlCol="0" anchor="ctr"/>
          <a:lstStyle/>
          <a:p>
            <a:pPr indent="0" marL="0">
              <a:lnSpc>
                <a:spcPts val="1900"/>
              </a:lnSpc>
              <a:buNone/>
            </a:pPr>
            <a:r>
              <a:rPr lang="en-US" sz="1350" dirty="0">
                <a:solidFill>
                  <a:srgbClr val="5C4218"/>
                </a:solidFill>
                <a:latin typeface="Calibri" pitchFamily="34" charset="0"/>
                <a:ea typeface="Calibri" pitchFamily="34" charset="-122"/>
                <a:cs typeface="Calibri" pitchFamily="34" charset="-120"/>
              </a:rPr>
              <a:t>Mô hình phải tổng quát hoá được sang những tài xế chưa từng xuất hiện trong quá trình huấn luyện. Một hệ thống thực tế luôn phải làm việc với người lái mới — đây là điều kiện vận hành, không phải một tiêu chí phụ.</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4</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Bộ dữ liệu: Driver Drowsiness Dataset (DDD)</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Nguồn: Kaggle — trích từ bộ Real-Life Drowsiness Dataset (RLDD)</a:t>
            </a:r>
            <a:endParaRPr lang="en-US" sz="1400" dirty="0"/>
          </a:p>
        </p:txBody>
      </p:sp>
      <p:sp>
        <p:nvSpPr>
          <p:cNvPr id="6" name="Shape 3"/>
          <p:cNvSpPr/>
          <p:nvPr/>
        </p:nvSpPr>
        <p:spPr>
          <a:xfrm>
            <a:off x="594360" y="1776222"/>
            <a:ext cx="2544318" cy="1234440"/>
          </a:xfrm>
          <a:prstGeom prst="roundRect">
            <a:avLst>
              <a:gd name="adj" fmla="val 6667"/>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7" name="Text 4"/>
          <p:cNvSpPr/>
          <p:nvPr/>
        </p:nvSpPr>
        <p:spPr>
          <a:xfrm>
            <a:off x="594360" y="1920240"/>
            <a:ext cx="2544318" cy="548640"/>
          </a:xfrm>
          <a:prstGeom prst="rect">
            <a:avLst/>
          </a:prstGeom>
          <a:noFill/>
          <a:ln/>
        </p:spPr>
        <p:txBody>
          <a:bodyPr wrap="square" lIns="0" tIns="0" rIns="0" bIns="0" rtlCol="0" anchor="ctr"/>
          <a:lstStyle/>
          <a:p>
            <a:pPr algn="ctr" indent="0" marL="0">
              <a:buNone/>
            </a:pPr>
            <a:r>
              <a:rPr lang="en-US" sz="2600" b="1" dirty="0">
                <a:solidFill>
                  <a:srgbClr val="12233F"/>
                </a:solidFill>
                <a:latin typeface="Cambria" pitchFamily="34" charset="0"/>
                <a:ea typeface="Cambria" pitchFamily="34" charset="-122"/>
                <a:cs typeface="Cambria" pitchFamily="34" charset="-120"/>
              </a:rPr>
              <a:t>[SỐ]</a:t>
            </a:r>
            <a:endParaRPr lang="en-US" sz="2600" dirty="0"/>
          </a:p>
        </p:txBody>
      </p:sp>
      <p:sp>
        <p:nvSpPr>
          <p:cNvPr id="8" name="Text 5"/>
          <p:cNvSpPr/>
          <p:nvPr/>
        </p:nvSpPr>
        <p:spPr>
          <a:xfrm>
            <a:off x="594360" y="2515514"/>
            <a:ext cx="2544318" cy="32004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ảnh khuôn mặt</a:t>
            </a:r>
            <a:endParaRPr lang="en-US" sz="1200" dirty="0"/>
          </a:p>
        </p:txBody>
      </p:sp>
      <p:sp>
        <p:nvSpPr>
          <p:cNvPr id="9" name="Shape 6"/>
          <p:cNvSpPr/>
          <p:nvPr/>
        </p:nvSpPr>
        <p:spPr>
          <a:xfrm>
            <a:off x="3412998" y="1776222"/>
            <a:ext cx="2544318" cy="1234440"/>
          </a:xfrm>
          <a:prstGeom prst="roundRect">
            <a:avLst>
              <a:gd name="adj" fmla="val 6667"/>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0" name="Text 7"/>
          <p:cNvSpPr/>
          <p:nvPr/>
        </p:nvSpPr>
        <p:spPr>
          <a:xfrm>
            <a:off x="3412998" y="1920240"/>
            <a:ext cx="2544318" cy="548640"/>
          </a:xfrm>
          <a:prstGeom prst="rect">
            <a:avLst/>
          </a:prstGeom>
          <a:noFill/>
          <a:ln/>
        </p:spPr>
        <p:txBody>
          <a:bodyPr wrap="square" lIns="0" tIns="0" rIns="0" bIns="0" rtlCol="0" anchor="ctr"/>
          <a:lstStyle/>
          <a:p>
            <a:pPr algn="ctr" indent="0" marL="0">
              <a:buNone/>
            </a:pPr>
            <a:r>
              <a:rPr lang="en-US" sz="2600" b="1" dirty="0">
                <a:solidFill>
                  <a:srgbClr val="12233F"/>
                </a:solidFill>
                <a:latin typeface="Cambria" pitchFamily="34" charset="0"/>
                <a:ea typeface="Cambria" pitchFamily="34" charset="-122"/>
                <a:cs typeface="Cambria" pitchFamily="34" charset="-120"/>
              </a:rPr>
              <a:t>[SỐ]</a:t>
            </a:r>
            <a:endParaRPr lang="en-US" sz="2600" dirty="0"/>
          </a:p>
        </p:txBody>
      </p:sp>
      <p:sp>
        <p:nvSpPr>
          <p:cNvPr id="11" name="Text 8"/>
          <p:cNvSpPr/>
          <p:nvPr/>
        </p:nvSpPr>
        <p:spPr>
          <a:xfrm>
            <a:off x="3412998" y="2515514"/>
            <a:ext cx="2544318" cy="32004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người tham gia</a:t>
            </a:r>
            <a:endParaRPr lang="en-US" sz="1200" dirty="0"/>
          </a:p>
        </p:txBody>
      </p:sp>
      <p:sp>
        <p:nvSpPr>
          <p:cNvPr id="12" name="Shape 9"/>
          <p:cNvSpPr/>
          <p:nvPr/>
        </p:nvSpPr>
        <p:spPr>
          <a:xfrm>
            <a:off x="6231636" y="1776222"/>
            <a:ext cx="2544318" cy="1234440"/>
          </a:xfrm>
          <a:prstGeom prst="roundRect">
            <a:avLst>
              <a:gd name="adj" fmla="val 6667"/>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3" name="Text 10"/>
          <p:cNvSpPr/>
          <p:nvPr/>
        </p:nvSpPr>
        <p:spPr>
          <a:xfrm>
            <a:off x="6231636" y="1920240"/>
            <a:ext cx="2544318" cy="548640"/>
          </a:xfrm>
          <a:prstGeom prst="rect">
            <a:avLst/>
          </a:prstGeom>
          <a:noFill/>
          <a:ln/>
        </p:spPr>
        <p:txBody>
          <a:bodyPr wrap="square" lIns="0" tIns="0" rIns="0" bIns="0" rtlCol="0" anchor="ctr"/>
          <a:lstStyle/>
          <a:p>
            <a:pPr algn="ctr" indent="0" marL="0">
              <a:buNone/>
            </a:pPr>
            <a:r>
              <a:rPr lang="en-US" sz="2600" b="1" dirty="0">
                <a:solidFill>
                  <a:srgbClr val="12233F"/>
                </a:solidFill>
                <a:latin typeface="Cambria" pitchFamily="34" charset="0"/>
                <a:ea typeface="Cambria" pitchFamily="34" charset="-122"/>
                <a:cs typeface="Cambria" pitchFamily="34" charset="-120"/>
              </a:rPr>
              <a:t>2</a:t>
            </a:r>
            <a:endParaRPr lang="en-US" sz="2600" dirty="0"/>
          </a:p>
        </p:txBody>
      </p:sp>
      <p:sp>
        <p:nvSpPr>
          <p:cNvPr id="14" name="Text 11"/>
          <p:cNvSpPr/>
          <p:nvPr/>
        </p:nvSpPr>
        <p:spPr>
          <a:xfrm>
            <a:off x="6231636" y="2515514"/>
            <a:ext cx="2544318" cy="32004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lớp phân loại</a:t>
            </a:r>
            <a:endParaRPr lang="en-US" sz="1200" dirty="0"/>
          </a:p>
        </p:txBody>
      </p:sp>
      <p:sp>
        <p:nvSpPr>
          <p:cNvPr id="15" name="Shape 12"/>
          <p:cNvSpPr/>
          <p:nvPr/>
        </p:nvSpPr>
        <p:spPr>
          <a:xfrm>
            <a:off x="9050274" y="1776222"/>
            <a:ext cx="2544318" cy="1234440"/>
          </a:xfrm>
          <a:prstGeom prst="roundRect">
            <a:avLst>
              <a:gd name="adj" fmla="val 6667"/>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6" name="Text 13"/>
          <p:cNvSpPr/>
          <p:nvPr/>
        </p:nvSpPr>
        <p:spPr>
          <a:xfrm>
            <a:off x="9050274" y="1920240"/>
            <a:ext cx="2544318" cy="548640"/>
          </a:xfrm>
          <a:prstGeom prst="rect">
            <a:avLst/>
          </a:prstGeom>
          <a:noFill/>
          <a:ln/>
        </p:spPr>
        <p:txBody>
          <a:bodyPr wrap="square" lIns="0" tIns="0" rIns="0" bIns="0" rtlCol="0" anchor="ctr"/>
          <a:lstStyle/>
          <a:p>
            <a:pPr algn="ctr" indent="0" marL="0">
              <a:buNone/>
            </a:pPr>
            <a:r>
              <a:rPr lang="en-US" sz="2600" b="1" dirty="0">
                <a:solidFill>
                  <a:srgbClr val="12233F"/>
                </a:solidFill>
                <a:latin typeface="Cambria" pitchFamily="34" charset="0"/>
                <a:ea typeface="Cambria" pitchFamily="34" charset="-122"/>
                <a:cs typeface="Cambria" pitchFamily="34" charset="-120"/>
              </a:rPr>
              <a:t>227 × 227</a:t>
            </a:r>
            <a:endParaRPr lang="en-US" sz="2600" dirty="0"/>
          </a:p>
        </p:txBody>
      </p:sp>
      <p:sp>
        <p:nvSpPr>
          <p:cNvPr id="17" name="Text 14"/>
          <p:cNvSpPr/>
          <p:nvPr/>
        </p:nvSpPr>
        <p:spPr>
          <a:xfrm>
            <a:off x="9050274" y="2515514"/>
            <a:ext cx="2544318" cy="32004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kích thước ảnh gốc</a:t>
            </a:r>
            <a:endParaRPr lang="en-US" sz="1200" dirty="0"/>
          </a:p>
        </p:txBody>
      </p:sp>
      <p:sp>
        <p:nvSpPr>
          <p:cNvPr id="18" name="Text 15"/>
          <p:cNvSpPr/>
          <p:nvPr/>
        </p:nvSpPr>
        <p:spPr>
          <a:xfrm>
            <a:off x="594360" y="3408426"/>
            <a:ext cx="5486400" cy="320040"/>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Bốn lý do lựa chọn</a:t>
            </a:r>
            <a:endParaRPr lang="en-US" sz="1600" dirty="0"/>
          </a:p>
        </p:txBody>
      </p:sp>
      <p:sp>
        <p:nvSpPr>
          <p:cNvPr id="19" name="Shape 16"/>
          <p:cNvSpPr/>
          <p:nvPr/>
        </p:nvSpPr>
        <p:spPr>
          <a:xfrm>
            <a:off x="594360" y="3859682"/>
            <a:ext cx="5340096" cy="896112"/>
          </a:xfrm>
          <a:prstGeom prst="roundRect">
            <a:avLst>
              <a:gd name="adj" fmla="val 9184"/>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20" name="Shape 17"/>
          <p:cNvSpPr/>
          <p:nvPr/>
        </p:nvSpPr>
        <p:spPr>
          <a:xfrm>
            <a:off x="850392" y="4118915"/>
            <a:ext cx="402336" cy="402336"/>
          </a:xfrm>
          <a:prstGeom prst="ellipse">
            <a:avLst/>
          </a:prstGeom>
          <a:solidFill>
            <a:srgbClr val="E8A33D"/>
          </a:solidFill>
          <a:ln w="12700">
            <a:solidFill>
              <a:srgbClr val="E8A33D"/>
            </a:solidFill>
            <a:prstDash val="solid"/>
          </a:ln>
        </p:spPr>
      </p:sp>
      <p:sp>
        <p:nvSpPr>
          <p:cNvPr id="21" name="Text 18"/>
          <p:cNvSpPr/>
          <p:nvPr/>
        </p:nvSpPr>
        <p:spPr>
          <a:xfrm>
            <a:off x="850392" y="411891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19"/>
          <p:cNvSpPr/>
          <p:nvPr/>
        </p:nvSpPr>
        <p:spPr>
          <a:xfrm>
            <a:off x="1435608" y="3984498"/>
            <a:ext cx="4288536" cy="274320"/>
          </a:xfrm>
          <a:prstGeom prst="rect">
            <a:avLst/>
          </a:prstGeom>
          <a:noFill/>
          <a:ln/>
        </p:spPr>
        <p:txBody>
          <a:bodyPr wrap="square" lIns="0" tIns="0" rIns="0" bIns="0" rtlCol="0" anchor="ctr"/>
          <a:lstStyle/>
          <a:p>
            <a:pPr indent="0" marL="0">
              <a:buNone/>
            </a:pPr>
            <a:r>
              <a:rPr lang="en-US" sz="1350" b="1" dirty="0">
                <a:solidFill>
                  <a:srgbClr val="12233F"/>
                </a:solidFill>
                <a:latin typeface="Calibri" pitchFamily="34" charset="0"/>
                <a:ea typeface="Calibri" pitchFamily="34" charset="-122"/>
                <a:cs typeface="Calibri" pitchFamily="34" charset="-120"/>
              </a:rPr>
              <a:t>Công khai, nguồn rõ ràng</a:t>
            </a:r>
            <a:endParaRPr lang="en-US" sz="1350" dirty="0"/>
          </a:p>
        </p:txBody>
      </p:sp>
      <p:sp>
        <p:nvSpPr>
          <p:cNvPr id="23" name="Text 20"/>
          <p:cNvSpPr/>
          <p:nvPr/>
        </p:nvSpPr>
        <p:spPr>
          <a:xfrm>
            <a:off x="1435608" y="4291736"/>
            <a:ext cx="4288536" cy="384048"/>
          </a:xfrm>
          <a:prstGeom prst="rect">
            <a:avLst/>
          </a:prstGeom>
          <a:noFill/>
          <a:ln/>
        </p:spPr>
        <p:txBody>
          <a:bodyPr wrap="square" lIns="0" tIns="0" rIns="0" bIns="0" rtlCol="0" anchor="ctr"/>
          <a:lstStyle/>
          <a:p>
            <a:pPr indent="0" marL="0">
              <a:lnSpc>
                <a:spcPts val="1500"/>
              </a:lnSpc>
              <a:buNone/>
            </a:pPr>
            <a:r>
              <a:rPr lang="en-US" sz="1150" dirty="0">
                <a:solidFill>
                  <a:srgbClr val="6B7A90"/>
                </a:solidFill>
                <a:latin typeface="Calibri" pitchFamily="34" charset="0"/>
                <a:ea typeface="Calibri" pitchFamily="34" charset="-122"/>
                <a:cs typeface="Calibri" pitchFamily="34" charset="-120"/>
              </a:rPr>
              <a:t>Đã dùng trong nhiều công bố nên kết quả đối chiếu được</a:t>
            </a:r>
            <a:endParaRPr lang="en-US" sz="1150" dirty="0"/>
          </a:p>
        </p:txBody>
      </p:sp>
      <p:sp>
        <p:nvSpPr>
          <p:cNvPr id="24" name="Shape 21"/>
          <p:cNvSpPr/>
          <p:nvPr/>
        </p:nvSpPr>
        <p:spPr>
          <a:xfrm>
            <a:off x="6254496" y="3859682"/>
            <a:ext cx="5340096" cy="896112"/>
          </a:xfrm>
          <a:prstGeom prst="roundRect">
            <a:avLst>
              <a:gd name="adj" fmla="val 9184"/>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25" name="Shape 22"/>
          <p:cNvSpPr/>
          <p:nvPr/>
        </p:nvSpPr>
        <p:spPr>
          <a:xfrm>
            <a:off x="6510528" y="4118915"/>
            <a:ext cx="402336" cy="402336"/>
          </a:xfrm>
          <a:prstGeom prst="ellipse">
            <a:avLst/>
          </a:prstGeom>
          <a:solidFill>
            <a:srgbClr val="E8A33D"/>
          </a:solidFill>
          <a:ln w="12700">
            <a:solidFill>
              <a:srgbClr val="E8A33D"/>
            </a:solidFill>
            <a:prstDash val="solid"/>
          </a:ln>
        </p:spPr>
      </p:sp>
      <p:sp>
        <p:nvSpPr>
          <p:cNvPr id="26" name="Text 23"/>
          <p:cNvSpPr/>
          <p:nvPr/>
        </p:nvSpPr>
        <p:spPr>
          <a:xfrm>
            <a:off x="6510528" y="411891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7" name="Text 24"/>
          <p:cNvSpPr/>
          <p:nvPr/>
        </p:nvSpPr>
        <p:spPr>
          <a:xfrm>
            <a:off x="7095744" y="3984498"/>
            <a:ext cx="4288536" cy="274320"/>
          </a:xfrm>
          <a:prstGeom prst="rect">
            <a:avLst/>
          </a:prstGeom>
          <a:noFill/>
          <a:ln/>
        </p:spPr>
        <p:txBody>
          <a:bodyPr wrap="square" lIns="0" tIns="0" rIns="0" bIns="0" rtlCol="0" anchor="ctr"/>
          <a:lstStyle/>
          <a:p>
            <a:pPr indent="0" marL="0">
              <a:buNone/>
            </a:pPr>
            <a:r>
              <a:rPr lang="en-US" sz="1350" b="1" dirty="0">
                <a:solidFill>
                  <a:srgbClr val="12233F"/>
                </a:solidFill>
                <a:latin typeface="Calibri" pitchFamily="34" charset="0"/>
                <a:ea typeface="Calibri" pitchFamily="34" charset="-122"/>
                <a:cs typeface="Calibri" pitchFamily="34" charset="-120"/>
              </a:rPr>
              <a:t>Điều kiện lái xe thực tế</a:t>
            </a:r>
            <a:endParaRPr lang="en-US" sz="1350" dirty="0"/>
          </a:p>
        </p:txBody>
      </p:sp>
      <p:sp>
        <p:nvSpPr>
          <p:cNvPr id="28" name="Text 25"/>
          <p:cNvSpPr/>
          <p:nvPr/>
        </p:nvSpPr>
        <p:spPr>
          <a:xfrm>
            <a:off x="7095744" y="4291736"/>
            <a:ext cx="4288536" cy="384048"/>
          </a:xfrm>
          <a:prstGeom prst="rect">
            <a:avLst/>
          </a:prstGeom>
          <a:noFill/>
          <a:ln/>
        </p:spPr>
        <p:txBody>
          <a:bodyPr wrap="square" lIns="0" tIns="0" rIns="0" bIns="0" rtlCol="0" anchor="ctr"/>
          <a:lstStyle/>
          <a:p>
            <a:pPr indent="0" marL="0">
              <a:lnSpc>
                <a:spcPts val="1500"/>
              </a:lnSpc>
              <a:buNone/>
            </a:pPr>
            <a:r>
              <a:rPr lang="en-US" sz="1150" dirty="0">
                <a:solidFill>
                  <a:srgbClr val="6B7A90"/>
                </a:solidFill>
                <a:latin typeface="Calibri" pitchFamily="34" charset="0"/>
                <a:ea typeface="Calibri" pitchFamily="34" charset="-122"/>
                <a:cs typeface="Calibri" pitchFamily="34" charset="-120"/>
              </a:rPr>
              <a:t>Không phải môi trường phòng thí nghiệm được kiểm soát</a:t>
            </a:r>
            <a:endParaRPr lang="en-US" sz="1150" dirty="0"/>
          </a:p>
        </p:txBody>
      </p:sp>
      <p:sp>
        <p:nvSpPr>
          <p:cNvPr id="29" name="Shape 26"/>
          <p:cNvSpPr/>
          <p:nvPr/>
        </p:nvSpPr>
        <p:spPr>
          <a:xfrm>
            <a:off x="594360" y="4935017"/>
            <a:ext cx="5340096" cy="896112"/>
          </a:xfrm>
          <a:prstGeom prst="roundRect">
            <a:avLst>
              <a:gd name="adj" fmla="val 9184"/>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30" name="Shape 27"/>
          <p:cNvSpPr/>
          <p:nvPr/>
        </p:nvSpPr>
        <p:spPr>
          <a:xfrm>
            <a:off x="850392" y="5194249"/>
            <a:ext cx="402336" cy="402336"/>
          </a:xfrm>
          <a:prstGeom prst="ellipse">
            <a:avLst/>
          </a:prstGeom>
          <a:solidFill>
            <a:srgbClr val="E8A33D"/>
          </a:solidFill>
          <a:ln w="12700">
            <a:solidFill>
              <a:srgbClr val="E8A33D"/>
            </a:solidFill>
            <a:prstDash val="solid"/>
          </a:ln>
        </p:spPr>
      </p:sp>
      <p:sp>
        <p:nvSpPr>
          <p:cNvPr id="31" name="Text 28"/>
          <p:cNvSpPr/>
          <p:nvPr/>
        </p:nvSpPr>
        <p:spPr>
          <a:xfrm>
            <a:off x="850392" y="519424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p:nvPr/>
        </p:nvSpPr>
        <p:spPr>
          <a:xfrm>
            <a:off x="1435608" y="5059832"/>
            <a:ext cx="4288536" cy="274320"/>
          </a:xfrm>
          <a:prstGeom prst="rect">
            <a:avLst/>
          </a:prstGeom>
          <a:noFill/>
          <a:ln/>
        </p:spPr>
        <p:txBody>
          <a:bodyPr wrap="square" lIns="0" tIns="0" rIns="0" bIns="0" rtlCol="0" anchor="ctr"/>
          <a:lstStyle/>
          <a:p>
            <a:pPr indent="0" marL="0">
              <a:buNone/>
            </a:pPr>
            <a:r>
              <a:rPr lang="en-US" sz="1350" b="1" dirty="0">
                <a:solidFill>
                  <a:srgbClr val="12233F"/>
                </a:solidFill>
                <a:latin typeface="Calibri" pitchFamily="34" charset="0"/>
                <a:ea typeface="Calibri" pitchFamily="34" charset="-122"/>
                <a:cs typeface="Calibri" pitchFamily="34" charset="-120"/>
              </a:rPr>
              <a:t>Ảnh toàn khuôn mặt</a:t>
            </a:r>
            <a:endParaRPr lang="en-US" sz="1350" dirty="0"/>
          </a:p>
        </p:txBody>
      </p:sp>
      <p:sp>
        <p:nvSpPr>
          <p:cNvPr id="33" name="Text 30"/>
          <p:cNvSpPr/>
          <p:nvPr/>
        </p:nvSpPr>
        <p:spPr>
          <a:xfrm>
            <a:off x="1435608" y="5367071"/>
            <a:ext cx="4288536" cy="384048"/>
          </a:xfrm>
          <a:prstGeom prst="rect">
            <a:avLst/>
          </a:prstGeom>
          <a:noFill/>
          <a:ln/>
        </p:spPr>
        <p:txBody>
          <a:bodyPr wrap="square" lIns="0" tIns="0" rIns="0" bIns="0" rtlCol="0" anchor="ctr"/>
          <a:lstStyle/>
          <a:p>
            <a:pPr indent="0" marL="0">
              <a:lnSpc>
                <a:spcPts val="1500"/>
              </a:lnSpc>
              <a:buNone/>
            </a:pPr>
            <a:r>
              <a:rPr lang="en-US" sz="1150" dirty="0">
                <a:solidFill>
                  <a:srgbClr val="6B7A90"/>
                </a:solidFill>
                <a:latin typeface="Calibri" pitchFamily="34" charset="0"/>
                <a:ea typeface="Calibri" pitchFamily="34" charset="-122"/>
                <a:cs typeface="Calibri" pitchFamily="34" charset="-120"/>
              </a:rPr>
              <a:t>Khai thác đồng thời mắt, miệng, tư thế đầu; Grad-CAM có ý nghĩa</a:t>
            </a:r>
            <a:endParaRPr lang="en-US" sz="1150" dirty="0"/>
          </a:p>
        </p:txBody>
      </p:sp>
      <p:sp>
        <p:nvSpPr>
          <p:cNvPr id="34" name="Shape 31"/>
          <p:cNvSpPr/>
          <p:nvPr/>
        </p:nvSpPr>
        <p:spPr>
          <a:xfrm>
            <a:off x="6254496" y="4935017"/>
            <a:ext cx="5340096" cy="896112"/>
          </a:xfrm>
          <a:prstGeom prst="roundRect">
            <a:avLst>
              <a:gd name="adj" fmla="val 9184"/>
            </a:avLst>
          </a:prstGeom>
          <a:solidFill>
            <a:srgbClr val="FDF3E3"/>
          </a:solidFill>
          <a:ln w="12700">
            <a:solidFill>
              <a:srgbClr val="FDF3E3"/>
            </a:solidFill>
            <a:prstDash val="solid"/>
          </a:ln>
          <a:effectLst>
            <a:outerShdw sx="100000" sy="100000" kx="0" ky="0" algn="bl" rotWithShape="0" blurRad="127000" dist="25400" dir="5400000">
              <a:srgbClr val="9AA8BC">
                <a:alpha val="10000"/>
              </a:srgbClr>
            </a:outerShdw>
          </a:effectLst>
        </p:spPr>
      </p:sp>
      <p:sp>
        <p:nvSpPr>
          <p:cNvPr id="35" name="Shape 32"/>
          <p:cNvSpPr/>
          <p:nvPr/>
        </p:nvSpPr>
        <p:spPr>
          <a:xfrm>
            <a:off x="6510528" y="5194249"/>
            <a:ext cx="402336" cy="402336"/>
          </a:xfrm>
          <a:prstGeom prst="ellipse">
            <a:avLst/>
          </a:prstGeom>
          <a:solidFill>
            <a:srgbClr val="C6444A"/>
          </a:solidFill>
          <a:ln w="12700">
            <a:solidFill>
              <a:srgbClr val="C6444A"/>
            </a:solidFill>
            <a:prstDash val="solid"/>
          </a:ln>
        </p:spPr>
      </p:sp>
      <p:sp>
        <p:nvSpPr>
          <p:cNvPr id="36" name="Text 33"/>
          <p:cNvSpPr/>
          <p:nvPr/>
        </p:nvSpPr>
        <p:spPr>
          <a:xfrm>
            <a:off x="6510528" y="519424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7" name="Text 34"/>
          <p:cNvSpPr/>
          <p:nvPr/>
        </p:nvSpPr>
        <p:spPr>
          <a:xfrm>
            <a:off x="7095744" y="5059832"/>
            <a:ext cx="4288536" cy="274320"/>
          </a:xfrm>
          <a:prstGeom prst="rect">
            <a:avLst/>
          </a:prstGeom>
          <a:noFill/>
          <a:ln/>
        </p:spPr>
        <p:txBody>
          <a:bodyPr wrap="square" lIns="0" tIns="0" rIns="0" bIns="0" rtlCol="0" anchor="ctr"/>
          <a:lstStyle/>
          <a:p>
            <a:pPr indent="0" marL="0">
              <a:buNone/>
            </a:pPr>
            <a:r>
              <a:rPr lang="en-US" sz="1350" b="1" dirty="0">
                <a:solidFill>
                  <a:srgbClr val="A9701F"/>
                </a:solidFill>
                <a:latin typeface="Calibri" pitchFamily="34" charset="0"/>
                <a:ea typeface="Calibri" pitchFamily="34" charset="-122"/>
                <a:cs typeface="Calibri" pitchFamily="34" charset="-120"/>
              </a:rPr>
              <a:t>Tên tệp mã hoá định danh người</a:t>
            </a:r>
            <a:endParaRPr lang="en-US" sz="1350" dirty="0"/>
          </a:p>
        </p:txBody>
      </p:sp>
      <p:sp>
        <p:nvSpPr>
          <p:cNvPr id="38" name="Text 35"/>
          <p:cNvSpPr/>
          <p:nvPr/>
        </p:nvSpPr>
        <p:spPr>
          <a:xfrm>
            <a:off x="7095744" y="5367071"/>
            <a:ext cx="4288536" cy="384048"/>
          </a:xfrm>
          <a:prstGeom prst="rect">
            <a:avLst/>
          </a:prstGeom>
          <a:noFill/>
          <a:ln/>
        </p:spPr>
        <p:txBody>
          <a:bodyPr wrap="square" lIns="0" tIns="0" rIns="0" bIns="0" rtlCol="0" anchor="ctr"/>
          <a:lstStyle/>
          <a:p>
            <a:pPr indent="0" marL="0">
              <a:lnSpc>
                <a:spcPts val="1500"/>
              </a:lnSpc>
              <a:buNone/>
            </a:pPr>
            <a:r>
              <a:rPr lang="en-US" sz="1150" dirty="0">
                <a:solidFill>
                  <a:srgbClr val="5C4218"/>
                </a:solidFill>
                <a:latin typeface="Calibri" pitchFamily="34" charset="0"/>
                <a:ea typeface="Calibri" pitchFamily="34" charset="-122"/>
                <a:cs typeface="Calibri" pitchFamily="34" charset="-120"/>
              </a:rPr>
              <a:t>Điều kiện tiên quyết để chia dữ liệu độc lập theo người</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3F"/>
        </a:solidFill>
      </p:bgPr>
    </p:bg>
    <p:spTree>
      <p:nvGrpSpPr>
        <p:cNvPr id="1" name=""/>
        <p:cNvGrpSpPr/>
        <p:nvPr/>
      </p:nvGrpSpPr>
      <p:grpSpPr>
        <a:xfrm>
          <a:off x="0" y="0"/>
          <a:ext cx="0" cy="0"/>
          <a:chOff x="0" y="0"/>
          <a:chExt cx="0" cy="0"/>
        </a:xfrm>
      </p:grpSpPr>
      <p:sp>
        <p:nvSpPr>
          <p:cNvPr id="3" name="Text 0"/>
          <p:cNvSpPr/>
          <p:nvPr/>
        </p:nvSpPr>
        <p:spPr>
          <a:xfrm>
            <a:off x="594360" y="672084"/>
            <a:ext cx="7315200" cy="292608"/>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VẤN ĐỀ NHÓM PHÁT HIỆN</a:t>
            </a:r>
            <a:endParaRPr lang="en-US" sz="1300" dirty="0"/>
          </a:p>
        </p:txBody>
      </p:sp>
      <p:sp>
        <p:nvSpPr>
          <p:cNvPr id="4" name="Text 1"/>
          <p:cNvSpPr/>
          <p:nvPr/>
        </p:nvSpPr>
        <p:spPr>
          <a:xfrm>
            <a:off x="594360" y="1075334"/>
            <a:ext cx="11000232" cy="59436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Vì sao nhiều công trình báo cáo độ chính xác gần 100%?</a:t>
            </a:r>
            <a:endParaRPr lang="en-US" sz="2900" dirty="0"/>
          </a:p>
        </p:txBody>
      </p:sp>
      <p:sp>
        <p:nvSpPr>
          <p:cNvPr id="5" name="Shape 2"/>
          <p:cNvSpPr/>
          <p:nvPr/>
        </p:nvSpPr>
        <p:spPr>
          <a:xfrm>
            <a:off x="594360" y="2112264"/>
            <a:ext cx="2510028" cy="2148840"/>
          </a:xfrm>
          <a:prstGeom prst="roundRect">
            <a:avLst>
              <a:gd name="adj" fmla="val 3830"/>
            </a:avLst>
          </a:prstGeom>
          <a:solidFill>
            <a:srgbClr val="1D3557"/>
          </a:solidFill>
          <a:ln w="12700">
            <a:solidFill>
              <a:srgbClr val="2C4970"/>
            </a:solidFill>
            <a:prstDash val="solid"/>
          </a:ln>
        </p:spPr>
      </p:sp>
      <p:sp>
        <p:nvSpPr>
          <p:cNvPr id="6" name="Shape 3"/>
          <p:cNvSpPr/>
          <p:nvPr/>
        </p:nvSpPr>
        <p:spPr>
          <a:xfrm>
            <a:off x="868680" y="2352294"/>
            <a:ext cx="402336" cy="402336"/>
          </a:xfrm>
          <a:prstGeom prst="ellipse">
            <a:avLst/>
          </a:prstGeom>
          <a:solidFill>
            <a:srgbClr val="E8A33D"/>
          </a:solidFill>
          <a:ln w="12700">
            <a:solidFill>
              <a:srgbClr val="E8A33D"/>
            </a:solidFill>
            <a:prstDash val="solid"/>
          </a:ln>
        </p:spPr>
      </p:sp>
      <p:sp>
        <p:nvSpPr>
          <p:cNvPr id="7" name="Text 4"/>
          <p:cNvSpPr/>
          <p:nvPr/>
        </p:nvSpPr>
        <p:spPr>
          <a:xfrm>
            <a:off x="868680" y="235229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850392" y="2928366"/>
            <a:ext cx="1997964" cy="566928"/>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Calibri" pitchFamily="34" charset="0"/>
                <a:ea typeface="Calibri" pitchFamily="34" charset="-122"/>
                <a:cs typeface="Calibri" pitchFamily="34" charset="-120"/>
              </a:rPr>
              <a:t>Ảnh trích từ khung hình liên tiếp</a:t>
            </a:r>
            <a:endParaRPr lang="en-US" sz="1350" dirty="0"/>
          </a:p>
        </p:txBody>
      </p:sp>
      <p:sp>
        <p:nvSpPr>
          <p:cNvPr id="9" name="Text 6"/>
          <p:cNvSpPr/>
          <p:nvPr/>
        </p:nvSpPr>
        <p:spPr>
          <a:xfrm>
            <a:off x="850392" y="3533242"/>
            <a:ext cx="1997964" cy="685800"/>
          </a:xfrm>
          <a:prstGeom prst="rect">
            <a:avLst/>
          </a:prstGeom>
          <a:noFill/>
          <a:ln/>
        </p:spPr>
        <p:txBody>
          <a:bodyPr wrap="square" lIns="0" tIns="0" rIns="0" bIns="0" rtlCol="0" anchor="ctr"/>
          <a:lstStyle/>
          <a:p>
            <a:pPr indent="0" marL="0">
              <a:lnSpc>
                <a:spcPts val="1500"/>
              </a:lnSpc>
              <a:buNone/>
            </a:pPr>
            <a:r>
              <a:rPr lang="en-US" sz="1150" dirty="0">
                <a:solidFill>
                  <a:srgbClr val="A9BBD4"/>
                </a:solidFill>
                <a:latin typeface="Calibri" pitchFamily="34" charset="0"/>
                <a:ea typeface="Calibri" pitchFamily="34" charset="-122"/>
                <a:cs typeface="Calibri" pitchFamily="34" charset="-120"/>
              </a:rPr>
              <a:t>Mỗi tài xế đóng góp hàng nghìn ảnh gần như giống hệt nhau</a:t>
            </a:r>
            <a:endParaRPr lang="en-US" sz="1150" dirty="0"/>
          </a:p>
        </p:txBody>
      </p:sp>
      <p:sp>
        <p:nvSpPr>
          <p:cNvPr id="10" name="Shape 7"/>
          <p:cNvSpPr/>
          <p:nvPr/>
        </p:nvSpPr>
        <p:spPr>
          <a:xfrm>
            <a:off x="3159252" y="3091586"/>
            <a:ext cx="210312" cy="228600"/>
          </a:xfrm>
          <a:prstGeom prst="rightArrow">
            <a:avLst/>
          </a:prstGeom>
          <a:solidFill>
            <a:srgbClr val="4E6A92"/>
          </a:solidFill>
          <a:ln w="12700">
            <a:solidFill>
              <a:srgbClr val="4E6A92"/>
            </a:solidFill>
            <a:prstDash val="solid"/>
          </a:ln>
        </p:spPr>
      </p:sp>
      <p:sp>
        <p:nvSpPr>
          <p:cNvPr id="11" name="Shape 8"/>
          <p:cNvSpPr/>
          <p:nvPr/>
        </p:nvSpPr>
        <p:spPr>
          <a:xfrm>
            <a:off x="3424428" y="2112264"/>
            <a:ext cx="2510028" cy="2148840"/>
          </a:xfrm>
          <a:prstGeom prst="roundRect">
            <a:avLst>
              <a:gd name="adj" fmla="val 3830"/>
            </a:avLst>
          </a:prstGeom>
          <a:solidFill>
            <a:srgbClr val="1D3557"/>
          </a:solidFill>
          <a:ln w="12700">
            <a:solidFill>
              <a:srgbClr val="2C4970"/>
            </a:solidFill>
            <a:prstDash val="solid"/>
          </a:ln>
        </p:spPr>
      </p:sp>
      <p:sp>
        <p:nvSpPr>
          <p:cNvPr id="12" name="Shape 9"/>
          <p:cNvSpPr/>
          <p:nvPr/>
        </p:nvSpPr>
        <p:spPr>
          <a:xfrm>
            <a:off x="3698748" y="2352294"/>
            <a:ext cx="402336" cy="402336"/>
          </a:xfrm>
          <a:prstGeom prst="ellipse">
            <a:avLst/>
          </a:prstGeom>
          <a:solidFill>
            <a:srgbClr val="E8A33D"/>
          </a:solidFill>
          <a:ln w="12700">
            <a:solidFill>
              <a:srgbClr val="E8A33D"/>
            </a:solidFill>
            <a:prstDash val="solid"/>
          </a:ln>
        </p:spPr>
      </p:sp>
      <p:sp>
        <p:nvSpPr>
          <p:cNvPr id="13" name="Text 10"/>
          <p:cNvSpPr/>
          <p:nvPr/>
        </p:nvSpPr>
        <p:spPr>
          <a:xfrm>
            <a:off x="3698748" y="235229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3680460" y="2928366"/>
            <a:ext cx="1997964" cy="566928"/>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Calibri" pitchFamily="34" charset="0"/>
                <a:ea typeface="Calibri" pitchFamily="34" charset="-122"/>
                <a:cs typeface="Calibri" pitchFamily="34" charset="-120"/>
              </a:rPr>
              <a:t>Chia ngẫu nhiên theo ảnh</a:t>
            </a:r>
            <a:endParaRPr lang="en-US" sz="1350" dirty="0"/>
          </a:p>
        </p:txBody>
      </p:sp>
      <p:sp>
        <p:nvSpPr>
          <p:cNvPr id="15" name="Text 12"/>
          <p:cNvSpPr/>
          <p:nvPr/>
        </p:nvSpPr>
        <p:spPr>
          <a:xfrm>
            <a:off x="3680460" y="3533242"/>
            <a:ext cx="1997964" cy="685800"/>
          </a:xfrm>
          <a:prstGeom prst="rect">
            <a:avLst/>
          </a:prstGeom>
          <a:noFill/>
          <a:ln/>
        </p:spPr>
        <p:txBody>
          <a:bodyPr wrap="square" lIns="0" tIns="0" rIns="0" bIns="0" rtlCol="0" anchor="ctr"/>
          <a:lstStyle/>
          <a:p>
            <a:pPr indent="0" marL="0">
              <a:lnSpc>
                <a:spcPts val="1500"/>
              </a:lnSpc>
              <a:buNone/>
            </a:pPr>
            <a:r>
              <a:rPr lang="en-US" sz="1150" dirty="0">
                <a:solidFill>
                  <a:srgbClr val="A9BBD4"/>
                </a:solidFill>
                <a:latin typeface="Calibri" pitchFamily="34" charset="0"/>
                <a:ea typeface="Calibri" pitchFamily="34" charset="-122"/>
                <a:cs typeface="Calibri" pitchFamily="34" charset="-120"/>
              </a:rPr>
              <a:t>Ảnh của cùng một người rơi vào cả tập train lẫn tập test</a:t>
            </a:r>
            <a:endParaRPr lang="en-US" sz="1150" dirty="0"/>
          </a:p>
        </p:txBody>
      </p:sp>
      <p:sp>
        <p:nvSpPr>
          <p:cNvPr id="16" name="Shape 13"/>
          <p:cNvSpPr/>
          <p:nvPr/>
        </p:nvSpPr>
        <p:spPr>
          <a:xfrm>
            <a:off x="5989320" y="3091586"/>
            <a:ext cx="210312" cy="228600"/>
          </a:xfrm>
          <a:prstGeom prst="rightArrow">
            <a:avLst/>
          </a:prstGeom>
          <a:solidFill>
            <a:srgbClr val="4E6A92"/>
          </a:solidFill>
          <a:ln w="12700">
            <a:solidFill>
              <a:srgbClr val="4E6A92"/>
            </a:solidFill>
            <a:prstDash val="solid"/>
          </a:ln>
        </p:spPr>
      </p:sp>
      <p:sp>
        <p:nvSpPr>
          <p:cNvPr id="17" name="Shape 14"/>
          <p:cNvSpPr/>
          <p:nvPr/>
        </p:nvSpPr>
        <p:spPr>
          <a:xfrm>
            <a:off x="6254496" y="2112264"/>
            <a:ext cx="2510028" cy="2148840"/>
          </a:xfrm>
          <a:prstGeom prst="roundRect">
            <a:avLst>
              <a:gd name="adj" fmla="val 3830"/>
            </a:avLst>
          </a:prstGeom>
          <a:solidFill>
            <a:srgbClr val="1D3557"/>
          </a:solidFill>
          <a:ln w="12700">
            <a:solidFill>
              <a:srgbClr val="2C4970"/>
            </a:solidFill>
            <a:prstDash val="solid"/>
          </a:ln>
        </p:spPr>
      </p:sp>
      <p:sp>
        <p:nvSpPr>
          <p:cNvPr id="18" name="Shape 15"/>
          <p:cNvSpPr/>
          <p:nvPr/>
        </p:nvSpPr>
        <p:spPr>
          <a:xfrm>
            <a:off x="6528816" y="2352294"/>
            <a:ext cx="402336" cy="402336"/>
          </a:xfrm>
          <a:prstGeom prst="ellipse">
            <a:avLst/>
          </a:prstGeom>
          <a:solidFill>
            <a:srgbClr val="E8A33D"/>
          </a:solidFill>
          <a:ln w="12700">
            <a:solidFill>
              <a:srgbClr val="E8A33D"/>
            </a:solidFill>
            <a:prstDash val="solid"/>
          </a:ln>
        </p:spPr>
      </p:sp>
      <p:sp>
        <p:nvSpPr>
          <p:cNvPr id="19" name="Text 16"/>
          <p:cNvSpPr/>
          <p:nvPr/>
        </p:nvSpPr>
        <p:spPr>
          <a:xfrm>
            <a:off x="6528816" y="235229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6510528" y="2928366"/>
            <a:ext cx="1997964" cy="566928"/>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Calibri" pitchFamily="34" charset="0"/>
                <a:ea typeface="Calibri" pitchFamily="34" charset="-122"/>
                <a:cs typeface="Calibri" pitchFamily="34" charset="-120"/>
              </a:rPr>
              <a:t>Mô hình học nhầm mục tiêu</a:t>
            </a:r>
            <a:endParaRPr lang="en-US" sz="1350" dirty="0"/>
          </a:p>
        </p:txBody>
      </p:sp>
      <p:sp>
        <p:nvSpPr>
          <p:cNvPr id="21" name="Text 18"/>
          <p:cNvSpPr/>
          <p:nvPr/>
        </p:nvSpPr>
        <p:spPr>
          <a:xfrm>
            <a:off x="6510528" y="3533242"/>
            <a:ext cx="1997964" cy="685800"/>
          </a:xfrm>
          <a:prstGeom prst="rect">
            <a:avLst/>
          </a:prstGeom>
          <a:noFill/>
          <a:ln/>
        </p:spPr>
        <p:txBody>
          <a:bodyPr wrap="square" lIns="0" tIns="0" rIns="0" bIns="0" rtlCol="0" anchor="ctr"/>
          <a:lstStyle/>
          <a:p>
            <a:pPr indent="0" marL="0">
              <a:lnSpc>
                <a:spcPts val="1500"/>
              </a:lnSpc>
              <a:buNone/>
            </a:pPr>
            <a:r>
              <a:rPr lang="en-US" sz="1150" dirty="0">
                <a:solidFill>
                  <a:srgbClr val="A9BBD4"/>
                </a:solidFill>
                <a:latin typeface="Calibri" pitchFamily="34" charset="0"/>
                <a:ea typeface="Calibri" pitchFamily="34" charset="-122"/>
                <a:cs typeface="Calibri" pitchFamily="34" charset="-120"/>
              </a:rPr>
              <a:t>Nhận diện "đây là tài xế A" thay vì "người này đang buồn ngủ"</a:t>
            </a:r>
            <a:endParaRPr lang="en-US" sz="1150" dirty="0"/>
          </a:p>
        </p:txBody>
      </p:sp>
      <p:sp>
        <p:nvSpPr>
          <p:cNvPr id="22" name="Shape 19"/>
          <p:cNvSpPr/>
          <p:nvPr/>
        </p:nvSpPr>
        <p:spPr>
          <a:xfrm>
            <a:off x="8819388" y="3091586"/>
            <a:ext cx="210312" cy="228600"/>
          </a:xfrm>
          <a:prstGeom prst="rightArrow">
            <a:avLst/>
          </a:prstGeom>
          <a:solidFill>
            <a:srgbClr val="4E6A92"/>
          </a:solidFill>
          <a:ln w="12700">
            <a:solidFill>
              <a:srgbClr val="4E6A92"/>
            </a:solidFill>
            <a:prstDash val="solid"/>
          </a:ln>
        </p:spPr>
      </p:sp>
      <p:sp>
        <p:nvSpPr>
          <p:cNvPr id="23" name="Shape 20"/>
          <p:cNvSpPr/>
          <p:nvPr/>
        </p:nvSpPr>
        <p:spPr>
          <a:xfrm>
            <a:off x="9084564" y="2112264"/>
            <a:ext cx="2510028" cy="2148840"/>
          </a:xfrm>
          <a:prstGeom prst="roundRect">
            <a:avLst>
              <a:gd name="adj" fmla="val 3830"/>
            </a:avLst>
          </a:prstGeom>
          <a:solidFill>
            <a:srgbClr val="3A1F26"/>
          </a:solidFill>
          <a:ln w="19050">
            <a:solidFill>
              <a:srgbClr val="C6444A"/>
            </a:solidFill>
            <a:prstDash val="solid"/>
          </a:ln>
        </p:spPr>
      </p:sp>
      <p:sp>
        <p:nvSpPr>
          <p:cNvPr id="24" name="Shape 21"/>
          <p:cNvSpPr/>
          <p:nvPr/>
        </p:nvSpPr>
        <p:spPr>
          <a:xfrm>
            <a:off x="9358884" y="2352294"/>
            <a:ext cx="402336" cy="402336"/>
          </a:xfrm>
          <a:prstGeom prst="ellipse">
            <a:avLst/>
          </a:prstGeom>
          <a:solidFill>
            <a:srgbClr val="C6444A"/>
          </a:solidFill>
          <a:ln w="12700">
            <a:solidFill>
              <a:srgbClr val="C6444A"/>
            </a:solidFill>
            <a:prstDash val="solid"/>
          </a:ln>
        </p:spPr>
      </p:sp>
      <p:sp>
        <p:nvSpPr>
          <p:cNvPr id="25" name="Text 22"/>
          <p:cNvSpPr/>
          <p:nvPr/>
        </p:nvSpPr>
        <p:spPr>
          <a:xfrm>
            <a:off x="9358884" y="235229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p:nvPr/>
        </p:nvSpPr>
        <p:spPr>
          <a:xfrm>
            <a:off x="9340596" y="2928366"/>
            <a:ext cx="1997964" cy="566928"/>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Calibri" pitchFamily="34" charset="0"/>
                <a:ea typeface="Calibri" pitchFamily="34" charset="-122"/>
                <a:cs typeface="Calibri" pitchFamily="34" charset="-120"/>
              </a:rPr>
              <a:t>Độ chính xác bị thổi phồng</a:t>
            </a:r>
            <a:endParaRPr lang="en-US" sz="1350" dirty="0"/>
          </a:p>
        </p:txBody>
      </p:sp>
      <p:sp>
        <p:nvSpPr>
          <p:cNvPr id="27" name="Text 24"/>
          <p:cNvSpPr/>
          <p:nvPr/>
        </p:nvSpPr>
        <p:spPr>
          <a:xfrm>
            <a:off x="9340596" y="3533242"/>
            <a:ext cx="1997964" cy="685800"/>
          </a:xfrm>
          <a:prstGeom prst="rect">
            <a:avLst/>
          </a:prstGeom>
          <a:noFill/>
          <a:ln/>
        </p:spPr>
        <p:txBody>
          <a:bodyPr wrap="square" lIns="0" tIns="0" rIns="0" bIns="0" rtlCol="0" anchor="ctr"/>
          <a:lstStyle/>
          <a:p>
            <a:pPr indent="0" marL="0">
              <a:lnSpc>
                <a:spcPts val="1500"/>
              </a:lnSpc>
              <a:buNone/>
            </a:pPr>
            <a:r>
              <a:rPr lang="en-US" sz="1150" dirty="0">
                <a:solidFill>
                  <a:srgbClr val="A9BBD4"/>
                </a:solidFill>
                <a:latin typeface="Calibri" pitchFamily="34" charset="0"/>
                <a:ea typeface="Calibri" pitchFamily="34" charset="-122"/>
                <a:cs typeface="Calibri" pitchFamily="34" charset="-120"/>
              </a:rPr>
              <a:t>Con số đẹp trên giấy, nhưng sụp đổ khi gặp tài xế mới</a:t>
            </a:r>
            <a:endParaRPr lang="en-US" sz="1150" dirty="0"/>
          </a:p>
        </p:txBody>
      </p:sp>
      <p:sp>
        <p:nvSpPr>
          <p:cNvPr id="28" name="Text 25"/>
          <p:cNvSpPr/>
          <p:nvPr/>
        </p:nvSpPr>
        <p:spPr>
          <a:xfrm>
            <a:off x="594360" y="4752594"/>
            <a:ext cx="11000232" cy="457200"/>
          </a:xfrm>
          <a:prstGeom prst="rect">
            <a:avLst/>
          </a:prstGeom>
          <a:noFill/>
          <a:ln/>
        </p:spPr>
        <p:txBody>
          <a:bodyPr wrap="square" lIns="0" tIns="0" rIns="0" bIns="0" rtlCol="0" anchor="ctr"/>
          <a:lstStyle/>
          <a:p>
            <a:pPr indent="0" marL="0">
              <a:buNone/>
            </a:pPr>
            <a:r>
              <a:rPr lang="en-US" sz="1400" i="1" dirty="0">
                <a:solidFill>
                  <a:srgbClr val="CBD7E8"/>
                </a:solidFill>
                <a:latin typeface="Calibri" pitchFamily="34" charset="0"/>
                <a:ea typeface="Calibri" pitchFamily="34" charset="-122"/>
                <a:cs typeface="Calibri" pitchFamily="34" charset="-120"/>
              </a:rPr>
              <a:t>Hiện tượng này được gọi là rò rỉ dữ liệu (data leakage). Đây là nguyên nhân đã được ghi nhận làm vô hiệu kết quả của hàng trăm công trình khoa học.</a:t>
            </a:r>
            <a:endParaRPr lang="en-US" sz="1400" dirty="0"/>
          </a:p>
        </p:txBody>
      </p:sp>
      <p:sp>
        <p:nvSpPr>
          <p:cNvPr id="29" name="Text 26"/>
          <p:cNvSpPr/>
          <p:nvPr/>
        </p:nvSpPr>
        <p:spPr>
          <a:xfrm>
            <a:off x="594360" y="5232654"/>
            <a:ext cx="6400800" cy="320040"/>
          </a:xfrm>
          <a:prstGeom prst="rect">
            <a:avLst/>
          </a:prstGeom>
          <a:noFill/>
          <a:ln/>
        </p:spPr>
        <p:txBody>
          <a:bodyPr wrap="square" lIns="0" tIns="0" rIns="0" bIns="0" rtlCol="0" anchor="ctr"/>
          <a:lstStyle/>
          <a:p>
            <a:pPr indent="0" marL="0">
              <a:buNone/>
            </a:pPr>
            <a:r>
              <a:rPr lang="en-US" sz="1150" dirty="0">
                <a:solidFill>
                  <a:srgbClr val="7E93B4"/>
                </a:solidFill>
                <a:latin typeface="Calibri" pitchFamily="34" charset="0"/>
                <a:ea typeface="Calibri" pitchFamily="34" charset="-122"/>
                <a:cs typeface="Calibri" pitchFamily="34" charset="-120"/>
              </a:rPr>
              <a:t>[Trích dẫn: Kapoor &amp; Narayanan, Patterns, 2023]</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5</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Quy trình đề xuất</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Hai nhánh song song, dùng chung mọi thành phần khác — đảm bảo so sánh công bằng</a:t>
            </a:r>
            <a:endParaRPr lang="en-US" sz="1400" dirty="0"/>
          </a:p>
        </p:txBody>
      </p:sp>
      <p:sp>
        <p:nvSpPr>
          <p:cNvPr id="6" name="Shape 3"/>
          <p:cNvSpPr/>
          <p:nvPr/>
        </p:nvSpPr>
        <p:spPr>
          <a:xfrm>
            <a:off x="594360" y="1776222"/>
            <a:ext cx="11000232" cy="3200400"/>
          </a:xfrm>
          <a:prstGeom prst="roundRect">
            <a:avLst>
              <a:gd name="adj" fmla="val 2286"/>
            </a:avLst>
          </a:prstGeom>
          <a:solidFill>
            <a:srgbClr val="EEF2F7"/>
          </a:solidFill>
          <a:ln w="15875">
            <a:solidFill>
              <a:srgbClr val="C3CEDC"/>
            </a:solidFill>
            <a:prstDash val="dash"/>
          </a:ln>
        </p:spPr>
      </p:sp>
      <p:sp>
        <p:nvSpPr>
          <p:cNvPr id="7" name="Text 4"/>
          <p:cNvSpPr/>
          <p:nvPr/>
        </p:nvSpPr>
        <p:spPr>
          <a:xfrm>
            <a:off x="777240" y="1776222"/>
            <a:ext cx="10634472" cy="3200400"/>
          </a:xfrm>
          <a:prstGeom prst="rect">
            <a:avLst/>
          </a:prstGeom>
          <a:noFill/>
          <a:ln/>
        </p:spPr>
        <p:txBody>
          <a:bodyPr wrap="square" lIns="0" tIns="0" rIns="0" bIns="0" rtlCol="0" anchor="ctr"/>
          <a:lstStyle/>
          <a:p>
            <a:pPr algn="ctr" indent="0" marL="0">
              <a:buNone/>
            </a:pPr>
            <a:r>
              <a:rPr lang="en-US" sz="1200" i="1" dirty="0">
                <a:solidFill>
                  <a:srgbClr val="7C8CA1"/>
                </a:solidFill>
                <a:latin typeface="Calibri" pitchFamily="34" charset="0"/>
                <a:ea typeface="Calibri" pitchFamily="34" charset="-122"/>
                <a:cs typeface="Calibri" pitchFamily="34" charset="-120"/>
              </a:rPr>
              <a:t>CHÈN SƠ ĐỒ PIPELINE — nhóm tự vẽ bằng draw.io, xuất PNG 300 DPI</a:t>
            </a:r>
            <a:endParaRPr lang="en-US" sz="1200" dirty="0"/>
          </a:p>
          <a:p>
            <a:pPr algn="ctr" indent="0" marL="0">
              <a:buNone/>
            </a:pPr>
            <a:r>
              <a:rPr lang="en-US" sz="1200" i="1" dirty="0">
                <a:solidFill>
                  <a:srgbClr val="7C8CA1"/>
                </a:solidFill>
                <a:latin typeface="Calibri" pitchFamily="34" charset="0"/>
                <a:ea typeface="Calibri" pitchFamily="34" charset="-122"/>
                <a:cs typeface="Calibri" pitchFamily="34" charset="-120"/>
              </a:rPr>
              <a:t>(cùng hình đã dùng ở Hình 1 trong báo cáo)</a:t>
            </a:r>
            <a:endParaRPr lang="en-US" sz="1200" dirty="0"/>
          </a:p>
        </p:txBody>
      </p:sp>
      <p:sp>
        <p:nvSpPr>
          <p:cNvPr id="8" name="Text 5"/>
          <p:cNvSpPr/>
          <p:nvPr/>
        </p:nvSpPr>
        <p:spPr>
          <a:xfrm>
            <a:off x="594360" y="5376672"/>
            <a:ext cx="11000232" cy="548640"/>
          </a:xfrm>
          <a:prstGeom prst="rect">
            <a:avLst/>
          </a:prstGeom>
          <a:noFill/>
          <a:ln/>
        </p:spPr>
        <p:txBody>
          <a:bodyPr wrap="square" lIns="0" tIns="0" rIns="0" bIns="0" rtlCol="0" anchor="ctr"/>
          <a:lstStyle/>
          <a:p>
            <a:pPr indent="0" marL="0">
              <a:lnSpc>
                <a:spcPts val="1900"/>
              </a:lnSpc>
              <a:buNone/>
            </a:pPr>
            <a:r>
              <a:rPr lang="en-US" sz="1350" dirty="0">
                <a:solidFill>
                  <a:srgbClr val="2C3E56"/>
                </a:solidFill>
                <a:latin typeface="Calibri" pitchFamily="34" charset="0"/>
                <a:ea typeface="Calibri" pitchFamily="34" charset="-122"/>
                <a:cs typeface="Calibri" pitchFamily="34" charset="-120"/>
              </a:rPr>
              <a:t>Biến duy nhất thay đổi giữa hai nhánh là cách phân bổ ảnh vào các tập. Dữ liệu, siêu tham số, hạt giống ngẫu nhiên, augmentation và phần cứng đều giữ nguyên.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6</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Tiền xử lý và tăng cường dữ liệu</a:t>
            </a:r>
            <a:endParaRPr lang="en-US" sz="3200" dirty="0"/>
          </a:p>
        </p:txBody>
      </p:sp>
      <p:sp>
        <p:nvSpPr>
          <p:cNvPr id="5" name="Text 2"/>
          <p:cNvSpPr/>
          <p:nvPr/>
        </p:nvSpPr>
        <p:spPr>
          <a:xfrm>
            <a:off x="594360" y="1728216"/>
            <a:ext cx="5271516" cy="320040"/>
          </a:xfrm>
          <a:prstGeom prst="rect">
            <a:avLst/>
          </a:prstGeom>
          <a:noFill/>
          <a:ln/>
        </p:spPr>
        <p:txBody>
          <a:bodyPr wrap="square" lIns="0" tIns="0" rIns="0" bIns="0" rtlCol="0" anchor="ctr"/>
          <a:lstStyle/>
          <a:p>
            <a:pPr indent="0" marL="0">
              <a:buNone/>
            </a:pPr>
            <a:r>
              <a:rPr lang="en-US" sz="1700" b="1" dirty="0">
                <a:solidFill>
                  <a:srgbClr val="12233F"/>
                </a:solidFill>
                <a:latin typeface="Calibri" pitchFamily="34" charset="0"/>
                <a:ea typeface="Calibri" pitchFamily="34" charset="-122"/>
                <a:cs typeface="Calibri" pitchFamily="34" charset="-120"/>
              </a:rPr>
              <a:t>Tiền xử lý</a:t>
            </a:r>
            <a:endParaRPr lang="en-US" sz="1700" dirty="0"/>
          </a:p>
        </p:txBody>
      </p:sp>
      <p:sp>
        <p:nvSpPr>
          <p:cNvPr id="6" name="Shape 3"/>
          <p:cNvSpPr/>
          <p:nvPr/>
        </p:nvSpPr>
        <p:spPr>
          <a:xfrm>
            <a:off x="594360" y="2160270"/>
            <a:ext cx="5271516" cy="2926080"/>
          </a:xfrm>
          <a:prstGeom prst="roundRect">
            <a:avLst>
              <a:gd name="adj" fmla="val 2813"/>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7" name="Text 4"/>
          <p:cNvSpPr/>
          <p:nvPr/>
        </p:nvSpPr>
        <p:spPr>
          <a:xfrm>
            <a:off x="960120" y="2400300"/>
            <a:ext cx="4539996" cy="246888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Loại bỏ tệp hỏng, ảnh kích thước bất thường, ảnh trùng lặp</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Chuẩn hoá kích thước về 224 × 224 × 3</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Chuẩn hoá giá trị điểm ảnh riêng cho từng kiến trúc</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Nhúng bước chuẩn hoá thành tầng đầu tiên bên trong mô hình</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Trích xuất mã định danh người từ tên tệp</a:t>
            </a:r>
            <a:endParaRPr lang="en-US" sz="1300" dirty="0"/>
          </a:p>
        </p:txBody>
      </p:sp>
      <p:sp>
        <p:nvSpPr>
          <p:cNvPr id="8" name="Text 5"/>
          <p:cNvSpPr/>
          <p:nvPr/>
        </p:nvSpPr>
        <p:spPr>
          <a:xfrm>
            <a:off x="6323076" y="1728216"/>
            <a:ext cx="5271516" cy="320040"/>
          </a:xfrm>
          <a:prstGeom prst="rect">
            <a:avLst/>
          </a:prstGeom>
          <a:noFill/>
          <a:ln/>
        </p:spPr>
        <p:txBody>
          <a:bodyPr wrap="square" lIns="0" tIns="0" rIns="0" bIns="0" rtlCol="0" anchor="ctr"/>
          <a:lstStyle/>
          <a:p>
            <a:pPr indent="0" marL="0">
              <a:buNone/>
            </a:pPr>
            <a:r>
              <a:rPr lang="en-US" sz="1700" b="1" dirty="0">
                <a:solidFill>
                  <a:srgbClr val="12233F"/>
                </a:solidFill>
                <a:latin typeface="Calibri" pitchFamily="34" charset="0"/>
                <a:ea typeface="Calibri" pitchFamily="34" charset="-122"/>
                <a:cs typeface="Calibri" pitchFamily="34" charset="-120"/>
              </a:rPr>
              <a:t>Tăng cường dữ liệu — chỉ trên tập train</a:t>
            </a:r>
            <a:endParaRPr lang="en-US" sz="1700" dirty="0"/>
          </a:p>
        </p:txBody>
      </p:sp>
      <p:sp>
        <p:nvSpPr>
          <p:cNvPr id="9" name="Shape 6"/>
          <p:cNvSpPr/>
          <p:nvPr/>
        </p:nvSpPr>
        <p:spPr>
          <a:xfrm>
            <a:off x="6323076" y="2160270"/>
            <a:ext cx="5271516" cy="621792"/>
          </a:xfrm>
          <a:prstGeom prst="roundRect">
            <a:avLst>
              <a:gd name="adj" fmla="val 1323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0" name="Text 7"/>
          <p:cNvSpPr/>
          <p:nvPr/>
        </p:nvSpPr>
        <p:spPr>
          <a:xfrm>
            <a:off x="6597396" y="2217877"/>
            <a:ext cx="1737360" cy="256032"/>
          </a:xfrm>
          <a:prstGeom prst="rect">
            <a:avLst/>
          </a:prstGeom>
          <a:noFill/>
          <a:ln/>
        </p:spPr>
        <p:txBody>
          <a:bodyPr wrap="square" lIns="0" tIns="0" rIns="0" bIns="0" rtlCol="0" anchor="ctr"/>
          <a:lstStyle/>
          <a:p>
            <a:pPr indent="0" marL="0">
              <a:buNone/>
            </a:pPr>
            <a:r>
              <a:rPr lang="en-US" sz="1300" b="1" dirty="0">
                <a:solidFill>
                  <a:srgbClr val="12233F"/>
                </a:solidFill>
                <a:latin typeface="Calibri" pitchFamily="34" charset="0"/>
                <a:ea typeface="Calibri" pitchFamily="34" charset="-122"/>
                <a:cs typeface="Calibri" pitchFamily="34" charset="-120"/>
              </a:rPr>
              <a:t>Lật ngang</a:t>
            </a:r>
            <a:endParaRPr lang="en-US" sz="1300" dirty="0"/>
          </a:p>
        </p:txBody>
      </p:sp>
      <p:sp>
        <p:nvSpPr>
          <p:cNvPr id="11" name="Text 8"/>
          <p:cNvSpPr/>
          <p:nvPr/>
        </p:nvSpPr>
        <p:spPr>
          <a:xfrm>
            <a:off x="8380476" y="2217877"/>
            <a:ext cx="914400" cy="256032"/>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p = 0,5</a:t>
            </a:r>
            <a:endParaRPr lang="en-US" sz="1300" dirty="0"/>
          </a:p>
        </p:txBody>
      </p:sp>
      <p:sp>
        <p:nvSpPr>
          <p:cNvPr id="12" name="Text 9"/>
          <p:cNvSpPr/>
          <p:nvPr/>
        </p:nvSpPr>
        <p:spPr>
          <a:xfrm>
            <a:off x="6597396" y="2496312"/>
            <a:ext cx="4722876" cy="237744"/>
          </a:xfrm>
          <a:prstGeom prst="rect">
            <a:avLst/>
          </a:prstGeom>
          <a:noFill/>
          <a:ln/>
        </p:spPr>
        <p:txBody>
          <a:bodyPr wrap="square" lIns="0" tIns="0" rIns="0" bIns="0" rtlCol="0" anchor="ctr"/>
          <a:lstStyle/>
          <a:p>
            <a:pPr indent="0" marL="0">
              <a:buNone/>
            </a:pPr>
            <a:r>
              <a:rPr lang="en-US" sz="1100" dirty="0">
                <a:solidFill>
                  <a:srgbClr val="6B7A90"/>
                </a:solidFill>
                <a:latin typeface="Calibri" pitchFamily="34" charset="0"/>
                <a:ea typeface="Calibri" pitchFamily="34" charset="-122"/>
                <a:cs typeface="Calibri" pitchFamily="34" charset="-120"/>
              </a:rPr>
              <a:t>Camera lệch trái hoặc phải</a:t>
            </a:r>
            <a:endParaRPr lang="en-US" sz="1100" dirty="0"/>
          </a:p>
        </p:txBody>
      </p:sp>
      <p:sp>
        <p:nvSpPr>
          <p:cNvPr id="13" name="Shape 10"/>
          <p:cNvSpPr/>
          <p:nvPr/>
        </p:nvSpPr>
        <p:spPr>
          <a:xfrm>
            <a:off x="6323076" y="2947568"/>
            <a:ext cx="5271516" cy="621792"/>
          </a:xfrm>
          <a:prstGeom prst="roundRect">
            <a:avLst>
              <a:gd name="adj" fmla="val 1323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4" name="Text 11"/>
          <p:cNvSpPr/>
          <p:nvPr/>
        </p:nvSpPr>
        <p:spPr>
          <a:xfrm>
            <a:off x="6597396" y="3005176"/>
            <a:ext cx="1737360" cy="256032"/>
          </a:xfrm>
          <a:prstGeom prst="rect">
            <a:avLst/>
          </a:prstGeom>
          <a:noFill/>
          <a:ln/>
        </p:spPr>
        <p:txBody>
          <a:bodyPr wrap="square" lIns="0" tIns="0" rIns="0" bIns="0" rtlCol="0" anchor="ctr"/>
          <a:lstStyle/>
          <a:p>
            <a:pPr indent="0" marL="0">
              <a:buNone/>
            </a:pPr>
            <a:r>
              <a:rPr lang="en-US" sz="1300" b="1" dirty="0">
                <a:solidFill>
                  <a:srgbClr val="12233F"/>
                </a:solidFill>
                <a:latin typeface="Calibri" pitchFamily="34" charset="0"/>
                <a:ea typeface="Calibri" pitchFamily="34" charset="-122"/>
                <a:cs typeface="Calibri" pitchFamily="34" charset="-120"/>
              </a:rPr>
              <a:t>Xoay</a:t>
            </a:r>
            <a:endParaRPr lang="en-US" sz="1300" dirty="0"/>
          </a:p>
        </p:txBody>
      </p:sp>
      <p:sp>
        <p:nvSpPr>
          <p:cNvPr id="15" name="Text 12"/>
          <p:cNvSpPr/>
          <p:nvPr/>
        </p:nvSpPr>
        <p:spPr>
          <a:xfrm>
            <a:off x="8380476" y="3005176"/>
            <a:ext cx="914400" cy="256032"/>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±10°</a:t>
            </a:r>
            <a:endParaRPr lang="en-US" sz="1300" dirty="0"/>
          </a:p>
        </p:txBody>
      </p:sp>
      <p:sp>
        <p:nvSpPr>
          <p:cNvPr id="16" name="Text 13"/>
          <p:cNvSpPr/>
          <p:nvPr/>
        </p:nvSpPr>
        <p:spPr>
          <a:xfrm>
            <a:off x="6597396" y="3283610"/>
            <a:ext cx="4722876" cy="237744"/>
          </a:xfrm>
          <a:prstGeom prst="rect">
            <a:avLst/>
          </a:prstGeom>
          <a:noFill/>
          <a:ln/>
        </p:spPr>
        <p:txBody>
          <a:bodyPr wrap="square" lIns="0" tIns="0" rIns="0" bIns="0" rtlCol="0" anchor="ctr"/>
          <a:lstStyle/>
          <a:p>
            <a:pPr indent="0" marL="0">
              <a:buNone/>
            </a:pPr>
            <a:r>
              <a:rPr lang="en-US" sz="1100" dirty="0">
                <a:solidFill>
                  <a:srgbClr val="6B7A90"/>
                </a:solidFill>
                <a:latin typeface="Calibri" pitchFamily="34" charset="0"/>
                <a:ea typeface="Calibri" pitchFamily="34" charset="-122"/>
                <a:cs typeface="Calibri" pitchFamily="34" charset="-120"/>
              </a:rPr>
              <a:t>Tư thế đầu nghiêng khi lái</a:t>
            </a:r>
            <a:endParaRPr lang="en-US" sz="1100" dirty="0"/>
          </a:p>
        </p:txBody>
      </p:sp>
      <p:sp>
        <p:nvSpPr>
          <p:cNvPr id="17" name="Shape 14"/>
          <p:cNvSpPr/>
          <p:nvPr/>
        </p:nvSpPr>
        <p:spPr>
          <a:xfrm>
            <a:off x="6323076" y="3734867"/>
            <a:ext cx="5271516" cy="621792"/>
          </a:xfrm>
          <a:prstGeom prst="roundRect">
            <a:avLst>
              <a:gd name="adj" fmla="val 1323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8" name="Text 15"/>
          <p:cNvSpPr/>
          <p:nvPr/>
        </p:nvSpPr>
        <p:spPr>
          <a:xfrm>
            <a:off x="6597396" y="3792474"/>
            <a:ext cx="1737360" cy="256032"/>
          </a:xfrm>
          <a:prstGeom prst="rect">
            <a:avLst/>
          </a:prstGeom>
          <a:noFill/>
          <a:ln/>
        </p:spPr>
        <p:txBody>
          <a:bodyPr wrap="square" lIns="0" tIns="0" rIns="0" bIns="0" rtlCol="0" anchor="ctr"/>
          <a:lstStyle/>
          <a:p>
            <a:pPr indent="0" marL="0">
              <a:buNone/>
            </a:pPr>
            <a:r>
              <a:rPr lang="en-US" sz="1300" b="1" dirty="0">
                <a:solidFill>
                  <a:srgbClr val="12233F"/>
                </a:solidFill>
                <a:latin typeface="Calibri" pitchFamily="34" charset="0"/>
                <a:ea typeface="Calibri" pitchFamily="34" charset="-122"/>
                <a:cs typeface="Calibri" pitchFamily="34" charset="-120"/>
              </a:rPr>
              <a:t>Phóng to thu nhỏ</a:t>
            </a:r>
            <a:endParaRPr lang="en-US" sz="1300" dirty="0"/>
          </a:p>
        </p:txBody>
      </p:sp>
      <p:sp>
        <p:nvSpPr>
          <p:cNvPr id="19" name="Text 16"/>
          <p:cNvSpPr/>
          <p:nvPr/>
        </p:nvSpPr>
        <p:spPr>
          <a:xfrm>
            <a:off x="8380476" y="3792474"/>
            <a:ext cx="914400" cy="256032"/>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±10%</a:t>
            </a:r>
            <a:endParaRPr lang="en-US" sz="1300" dirty="0"/>
          </a:p>
        </p:txBody>
      </p:sp>
      <p:sp>
        <p:nvSpPr>
          <p:cNvPr id="20" name="Text 17"/>
          <p:cNvSpPr/>
          <p:nvPr/>
        </p:nvSpPr>
        <p:spPr>
          <a:xfrm>
            <a:off x="6597396" y="4070909"/>
            <a:ext cx="4722876" cy="237744"/>
          </a:xfrm>
          <a:prstGeom prst="rect">
            <a:avLst/>
          </a:prstGeom>
          <a:noFill/>
          <a:ln/>
        </p:spPr>
        <p:txBody>
          <a:bodyPr wrap="square" lIns="0" tIns="0" rIns="0" bIns="0" rtlCol="0" anchor="ctr"/>
          <a:lstStyle/>
          <a:p>
            <a:pPr indent="0" marL="0">
              <a:buNone/>
            </a:pPr>
            <a:r>
              <a:rPr lang="en-US" sz="1100" dirty="0">
                <a:solidFill>
                  <a:srgbClr val="6B7A90"/>
                </a:solidFill>
                <a:latin typeface="Calibri" pitchFamily="34" charset="0"/>
                <a:ea typeface="Calibri" pitchFamily="34" charset="-122"/>
                <a:cs typeface="Calibri" pitchFamily="34" charset="-120"/>
              </a:rPr>
              <a:t>Khoảng cách camera thay đổi</a:t>
            </a:r>
            <a:endParaRPr lang="en-US" sz="1100" dirty="0"/>
          </a:p>
        </p:txBody>
      </p:sp>
      <p:sp>
        <p:nvSpPr>
          <p:cNvPr id="21" name="Shape 18"/>
          <p:cNvSpPr/>
          <p:nvPr/>
        </p:nvSpPr>
        <p:spPr>
          <a:xfrm>
            <a:off x="6323076" y="4522165"/>
            <a:ext cx="5271516" cy="621792"/>
          </a:xfrm>
          <a:prstGeom prst="roundRect">
            <a:avLst>
              <a:gd name="adj" fmla="val 13235"/>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22" name="Text 19"/>
          <p:cNvSpPr/>
          <p:nvPr/>
        </p:nvSpPr>
        <p:spPr>
          <a:xfrm>
            <a:off x="6597396" y="4579772"/>
            <a:ext cx="1737360" cy="256032"/>
          </a:xfrm>
          <a:prstGeom prst="rect">
            <a:avLst/>
          </a:prstGeom>
          <a:noFill/>
          <a:ln/>
        </p:spPr>
        <p:txBody>
          <a:bodyPr wrap="square" lIns="0" tIns="0" rIns="0" bIns="0" rtlCol="0" anchor="ctr"/>
          <a:lstStyle/>
          <a:p>
            <a:pPr indent="0" marL="0">
              <a:buNone/>
            </a:pPr>
            <a:r>
              <a:rPr lang="en-US" sz="1300" b="1" dirty="0">
                <a:solidFill>
                  <a:srgbClr val="12233F"/>
                </a:solidFill>
                <a:latin typeface="Calibri" pitchFamily="34" charset="0"/>
                <a:ea typeface="Calibri" pitchFamily="34" charset="-122"/>
                <a:cs typeface="Calibri" pitchFamily="34" charset="-120"/>
              </a:rPr>
              <a:t>Độ sáng</a:t>
            </a:r>
            <a:endParaRPr lang="en-US" sz="1300" dirty="0"/>
          </a:p>
        </p:txBody>
      </p:sp>
      <p:sp>
        <p:nvSpPr>
          <p:cNvPr id="23" name="Text 20"/>
          <p:cNvSpPr/>
          <p:nvPr/>
        </p:nvSpPr>
        <p:spPr>
          <a:xfrm>
            <a:off x="8380476" y="4579772"/>
            <a:ext cx="914400" cy="256032"/>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±20%</a:t>
            </a:r>
            <a:endParaRPr lang="en-US" sz="1300" dirty="0"/>
          </a:p>
        </p:txBody>
      </p:sp>
      <p:sp>
        <p:nvSpPr>
          <p:cNvPr id="24" name="Text 21"/>
          <p:cNvSpPr/>
          <p:nvPr/>
        </p:nvSpPr>
        <p:spPr>
          <a:xfrm>
            <a:off x="6597396" y="4858207"/>
            <a:ext cx="4722876" cy="237744"/>
          </a:xfrm>
          <a:prstGeom prst="rect">
            <a:avLst/>
          </a:prstGeom>
          <a:noFill/>
          <a:ln/>
        </p:spPr>
        <p:txBody>
          <a:bodyPr wrap="square" lIns="0" tIns="0" rIns="0" bIns="0" rtlCol="0" anchor="ctr"/>
          <a:lstStyle/>
          <a:p>
            <a:pPr indent="0" marL="0">
              <a:buNone/>
            </a:pPr>
            <a:r>
              <a:rPr lang="en-US" sz="1100" dirty="0">
                <a:solidFill>
                  <a:srgbClr val="6B7A90"/>
                </a:solidFill>
                <a:latin typeface="Calibri" pitchFamily="34" charset="0"/>
                <a:ea typeface="Calibri" pitchFamily="34" charset="-122"/>
                <a:cs typeface="Calibri" pitchFamily="34" charset="-120"/>
              </a:rPr>
              <a:t>Ngày, đêm, đi qua hầm</a:t>
            </a:r>
            <a:endParaRPr lang="en-US" sz="1100" dirty="0"/>
          </a:p>
        </p:txBody>
      </p:sp>
      <p:sp>
        <p:nvSpPr>
          <p:cNvPr id="25" name="Text 22"/>
          <p:cNvSpPr/>
          <p:nvPr/>
        </p:nvSpPr>
        <p:spPr>
          <a:xfrm>
            <a:off x="594360" y="5424678"/>
            <a:ext cx="11000232" cy="457200"/>
          </a:xfrm>
          <a:prstGeom prst="rect">
            <a:avLst/>
          </a:prstGeom>
          <a:noFill/>
          <a:ln/>
        </p:spPr>
        <p:txBody>
          <a:bodyPr wrap="square" lIns="0" tIns="0" rIns="0" bIns="0" rtlCol="0" anchor="ctr"/>
          <a:lstStyle/>
          <a:p>
            <a:pPr indent="0" marL="0">
              <a:buNone/>
            </a:pPr>
            <a:r>
              <a:rPr lang="en-US" sz="1250" i="1" dirty="0">
                <a:solidFill>
                  <a:srgbClr val="6B7A90"/>
                </a:solidFill>
                <a:latin typeface="Calibri" pitchFamily="34" charset="0"/>
                <a:ea typeface="Calibri" pitchFamily="34" charset="-122"/>
                <a:cs typeface="Calibri" pitchFamily="34" charset="-120"/>
              </a:rPr>
              <a:t>Không dùng lật dọc (khuôn mặt lật ngược không tồn tại khi lái xe) và không cắt ngẫu nhiên mạnh (rủi ro cắt mất vùng mắt hoặc miệng).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7</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Hai giao thức chia dữ liệu</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Cùng tỷ lệ 70 / 15 / 15 — khác nhau ở đơn vị được chia</a:t>
            </a:r>
            <a:endParaRPr lang="en-US" sz="1400" dirty="0"/>
          </a:p>
        </p:txBody>
      </p:sp>
      <p:sp>
        <p:nvSpPr>
          <p:cNvPr id="6" name="Shape 3"/>
          <p:cNvSpPr/>
          <p:nvPr/>
        </p:nvSpPr>
        <p:spPr>
          <a:xfrm>
            <a:off x="594360" y="1776222"/>
            <a:ext cx="5271516" cy="3520440"/>
          </a:xfrm>
          <a:prstGeom prst="roundRect">
            <a:avLst>
              <a:gd name="adj" fmla="val 2338"/>
            </a:avLst>
          </a:prstGeom>
          <a:solidFill>
            <a:srgbClr val="FDECEC"/>
          </a:solidFill>
          <a:ln w="12700">
            <a:solidFill>
              <a:srgbClr val="FDECEC"/>
            </a:solidFill>
            <a:prstDash val="solid"/>
          </a:ln>
          <a:effectLst>
            <a:outerShdw sx="100000" sy="100000" kx="0" ky="0" algn="bl" rotWithShape="0" blurRad="127000" dist="25400" dir="5400000">
              <a:srgbClr val="9AA8BC">
                <a:alpha val="10000"/>
              </a:srgbClr>
            </a:outerShdw>
          </a:effectLst>
        </p:spPr>
      </p:sp>
      <p:sp>
        <p:nvSpPr>
          <p:cNvPr id="7" name="Shape 4"/>
          <p:cNvSpPr/>
          <p:nvPr/>
        </p:nvSpPr>
        <p:spPr>
          <a:xfrm>
            <a:off x="914400" y="2016252"/>
            <a:ext cx="457200" cy="457200"/>
          </a:xfrm>
          <a:prstGeom prst="ellipse">
            <a:avLst/>
          </a:prstGeom>
          <a:solidFill>
            <a:srgbClr val="C6444A"/>
          </a:solidFill>
          <a:ln w="12700">
            <a:solidFill>
              <a:srgbClr val="C6444A"/>
            </a:solidFill>
            <a:prstDash val="solid"/>
          </a:ln>
        </p:spPr>
      </p:sp>
      <p:sp>
        <p:nvSpPr>
          <p:cNvPr id="8" name="Text 5"/>
          <p:cNvSpPr/>
          <p:nvPr/>
        </p:nvSpPr>
        <p:spPr>
          <a:xfrm>
            <a:off x="914400" y="20162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9" name="Text 6"/>
          <p:cNvSpPr/>
          <p:nvPr/>
        </p:nvSpPr>
        <p:spPr>
          <a:xfrm>
            <a:off x="1508760" y="2073859"/>
            <a:ext cx="3991356" cy="365760"/>
          </a:xfrm>
          <a:prstGeom prst="rect">
            <a:avLst/>
          </a:prstGeom>
          <a:noFill/>
          <a:ln/>
        </p:spPr>
        <p:txBody>
          <a:bodyPr wrap="square" lIns="0" tIns="0" rIns="0" bIns="0" rtlCol="0" anchor="ctr"/>
          <a:lstStyle/>
          <a:p>
            <a:pPr indent="0" marL="0">
              <a:buNone/>
            </a:pPr>
            <a:r>
              <a:rPr lang="en-US" sz="1700" b="1" dirty="0">
                <a:solidFill>
                  <a:srgbClr val="12233F"/>
                </a:solidFill>
                <a:latin typeface="Calibri" pitchFamily="34" charset="0"/>
                <a:ea typeface="Calibri" pitchFamily="34" charset="-122"/>
                <a:cs typeface="Calibri" pitchFamily="34" charset="-120"/>
              </a:rPr>
              <a:t>Chia ngẫu nhiên theo ảnh</a:t>
            </a:r>
            <a:endParaRPr lang="en-US" sz="1700" dirty="0"/>
          </a:p>
        </p:txBody>
      </p:sp>
      <p:sp>
        <p:nvSpPr>
          <p:cNvPr id="10" name="Text 7"/>
          <p:cNvSpPr/>
          <p:nvPr/>
        </p:nvSpPr>
        <p:spPr>
          <a:xfrm>
            <a:off x="978408" y="2736342"/>
            <a:ext cx="4503420" cy="169164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Đơn vị chia: từng ảnh riêng lẻ</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Phân tầng theo nhãn lớp</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Cách phổ biến trong tài liệu hiện có</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Ảnh của một người nằm ở cả 3 tập</a:t>
            </a:r>
            <a:endParaRPr lang="en-US" sz="1300" dirty="0"/>
          </a:p>
        </p:txBody>
      </p:sp>
      <p:sp>
        <p:nvSpPr>
          <p:cNvPr id="11" name="Text 8"/>
          <p:cNvSpPr/>
          <p:nvPr/>
        </p:nvSpPr>
        <p:spPr>
          <a:xfrm>
            <a:off x="978408" y="4752594"/>
            <a:ext cx="4503420" cy="502920"/>
          </a:xfrm>
          <a:prstGeom prst="rect">
            <a:avLst/>
          </a:prstGeom>
          <a:noFill/>
          <a:ln/>
        </p:spPr>
        <p:txBody>
          <a:bodyPr wrap="square" lIns="0" tIns="0" rIns="0" bIns="0" rtlCol="0" anchor="ctr"/>
          <a:lstStyle/>
          <a:p>
            <a:pPr indent="0" marL="0">
              <a:lnSpc>
                <a:spcPts val="1700"/>
              </a:lnSpc>
              <a:buNone/>
            </a:pPr>
            <a:r>
              <a:rPr lang="en-US" sz="1250" b="1" dirty="0">
                <a:solidFill>
                  <a:srgbClr val="C6444A"/>
                </a:solidFill>
                <a:latin typeface="Calibri" pitchFamily="34" charset="0"/>
                <a:ea typeface="Calibri" pitchFamily="34" charset="-122"/>
                <a:cs typeface="Calibri" pitchFamily="34" charset="-120"/>
              </a:rPr>
              <a:t>Số người xuất hiện ở cả train và test:  [SỐ] người</a:t>
            </a:r>
            <a:endParaRPr lang="en-US" sz="1250" dirty="0"/>
          </a:p>
        </p:txBody>
      </p:sp>
      <p:sp>
        <p:nvSpPr>
          <p:cNvPr id="12" name="Shape 9"/>
          <p:cNvSpPr/>
          <p:nvPr/>
        </p:nvSpPr>
        <p:spPr>
          <a:xfrm>
            <a:off x="6323076" y="1776222"/>
            <a:ext cx="5271516" cy="3520440"/>
          </a:xfrm>
          <a:prstGeom prst="roundRect">
            <a:avLst>
              <a:gd name="adj" fmla="val 2338"/>
            </a:avLst>
          </a:prstGeom>
          <a:solidFill>
            <a:srgbClr val="E8F4F4"/>
          </a:solidFill>
          <a:ln w="12700">
            <a:solidFill>
              <a:srgbClr val="E8F4F4"/>
            </a:solidFill>
            <a:prstDash val="solid"/>
          </a:ln>
          <a:effectLst>
            <a:outerShdw sx="100000" sy="100000" kx="0" ky="0" algn="bl" rotWithShape="0" blurRad="127000" dist="25400" dir="5400000">
              <a:srgbClr val="9AA8BC">
                <a:alpha val="10000"/>
              </a:srgbClr>
            </a:outerShdw>
          </a:effectLst>
        </p:spPr>
      </p:sp>
      <p:sp>
        <p:nvSpPr>
          <p:cNvPr id="13" name="Shape 10"/>
          <p:cNvSpPr/>
          <p:nvPr/>
        </p:nvSpPr>
        <p:spPr>
          <a:xfrm>
            <a:off x="6643116" y="2016252"/>
            <a:ext cx="457200" cy="457200"/>
          </a:xfrm>
          <a:prstGeom prst="ellipse">
            <a:avLst/>
          </a:prstGeom>
          <a:solidFill>
            <a:srgbClr val="2E8B8B"/>
          </a:solidFill>
          <a:ln w="12700">
            <a:solidFill>
              <a:srgbClr val="2E8B8B"/>
            </a:solidFill>
            <a:prstDash val="solid"/>
          </a:ln>
        </p:spPr>
      </p:sp>
      <p:sp>
        <p:nvSpPr>
          <p:cNvPr id="14" name="Text 11"/>
          <p:cNvSpPr/>
          <p:nvPr/>
        </p:nvSpPr>
        <p:spPr>
          <a:xfrm>
            <a:off x="6643116" y="20162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2"/>
          <p:cNvSpPr/>
          <p:nvPr/>
        </p:nvSpPr>
        <p:spPr>
          <a:xfrm>
            <a:off x="7237476" y="2073859"/>
            <a:ext cx="3991356" cy="365760"/>
          </a:xfrm>
          <a:prstGeom prst="rect">
            <a:avLst/>
          </a:prstGeom>
          <a:noFill/>
          <a:ln/>
        </p:spPr>
        <p:txBody>
          <a:bodyPr wrap="square" lIns="0" tIns="0" rIns="0" bIns="0" rtlCol="0" anchor="ctr"/>
          <a:lstStyle/>
          <a:p>
            <a:pPr indent="0" marL="0">
              <a:buNone/>
            </a:pPr>
            <a:r>
              <a:rPr lang="en-US" sz="1700" b="1" dirty="0">
                <a:solidFill>
                  <a:srgbClr val="12233F"/>
                </a:solidFill>
                <a:latin typeface="Calibri" pitchFamily="34" charset="0"/>
                <a:ea typeface="Calibri" pitchFamily="34" charset="-122"/>
                <a:cs typeface="Calibri" pitchFamily="34" charset="-120"/>
              </a:rPr>
              <a:t>Chia độc lập theo người</a:t>
            </a:r>
            <a:endParaRPr lang="en-US" sz="1700" dirty="0"/>
          </a:p>
        </p:txBody>
      </p:sp>
      <p:sp>
        <p:nvSpPr>
          <p:cNvPr id="16" name="Text 13"/>
          <p:cNvSpPr/>
          <p:nvPr/>
        </p:nvSpPr>
        <p:spPr>
          <a:xfrm>
            <a:off x="6707124" y="2736342"/>
            <a:ext cx="4503420" cy="169164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Đơn vị chia: từng người tham gia</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Mỗi người thuộc đúng một tập duy nhất</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Tỷ lệ ảnh vẫn xấp xỉ 70 / 15 / 15</a:t>
            </a:r>
            <a:endParaRPr lang="en-US" sz="1300" dirty="0"/>
          </a:p>
          <a:p>
            <a:pPr marL="342900" indent="-342900">
              <a:spcAft>
                <a:spcPts val="900"/>
              </a:spcAft>
              <a:buSzPct val="100000"/>
              <a:buChar char="•"/>
            </a:pPr>
            <a:r>
              <a:rPr lang="en-US" sz="1300" dirty="0">
                <a:solidFill>
                  <a:srgbClr val="2C3E56"/>
                </a:solidFill>
                <a:latin typeface="Calibri" pitchFamily="34" charset="0"/>
                <a:ea typeface="Calibri" pitchFamily="34" charset="-122"/>
                <a:cs typeface="Calibri" pitchFamily="34" charset="-120"/>
              </a:rPr>
              <a:t>Đo đúng khả năng tổng quát hoá</a:t>
            </a:r>
            <a:endParaRPr lang="en-US" sz="1300" dirty="0"/>
          </a:p>
        </p:txBody>
      </p:sp>
      <p:sp>
        <p:nvSpPr>
          <p:cNvPr id="17" name="Text 14"/>
          <p:cNvSpPr/>
          <p:nvPr/>
        </p:nvSpPr>
        <p:spPr>
          <a:xfrm>
            <a:off x="6707124" y="4752594"/>
            <a:ext cx="4503420" cy="502920"/>
          </a:xfrm>
          <a:prstGeom prst="rect">
            <a:avLst/>
          </a:prstGeom>
          <a:noFill/>
          <a:ln/>
        </p:spPr>
        <p:txBody>
          <a:bodyPr wrap="square" lIns="0" tIns="0" rIns="0" bIns="0" rtlCol="0" anchor="ctr"/>
          <a:lstStyle/>
          <a:p>
            <a:pPr indent="0" marL="0">
              <a:lnSpc>
                <a:spcPts val="1700"/>
              </a:lnSpc>
              <a:buNone/>
            </a:pPr>
            <a:r>
              <a:rPr lang="en-US" sz="1250" b="1" dirty="0">
                <a:solidFill>
                  <a:srgbClr val="2E8B8B"/>
                </a:solidFill>
                <a:latin typeface="Calibri" pitchFamily="34" charset="0"/>
                <a:ea typeface="Calibri" pitchFamily="34" charset="-122"/>
                <a:cs typeface="Calibri" pitchFamily="34" charset="-120"/>
              </a:rPr>
              <a:t>Số người xuất hiện ở cả train và test:  0 người</a:t>
            </a:r>
            <a:endParaRPr lang="en-US" sz="1250" dirty="0"/>
          </a:p>
        </p:txBody>
      </p:sp>
      <p:sp>
        <p:nvSpPr>
          <p:cNvPr id="18" name="Text 15"/>
          <p:cNvSpPr/>
          <p:nvPr/>
        </p:nvSpPr>
        <p:spPr>
          <a:xfrm>
            <a:off x="594360" y="5712714"/>
            <a:ext cx="11000232" cy="457200"/>
          </a:xfrm>
          <a:prstGeom prst="rect">
            <a:avLst/>
          </a:prstGeom>
          <a:noFill/>
          <a:ln/>
        </p:spPr>
        <p:txBody>
          <a:bodyPr wrap="square" lIns="0" tIns="0" rIns="0" bIns="0" rtlCol="0" anchor="ctr"/>
          <a:lstStyle/>
          <a:p>
            <a:pPr indent="0" marL="0">
              <a:buNone/>
            </a:pPr>
            <a:r>
              <a:rPr lang="en-US" sz="1250" i="1" dirty="0">
                <a:solidFill>
                  <a:srgbClr val="6B7A90"/>
                </a:solidFill>
                <a:latin typeface="Calibri" pitchFamily="34" charset="0"/>
                <a:ea typeface="Calibri" pitchFamily="34" charset="-122"/>
                <a:cs typeface="Calibri" pitchFamily="34" charset="-120"/>
              </a:rPr>
              <a:t>Vai trò ba tập không chồng lấn: train cập nhật trọng số · validation chọn siêu tham số và điểm dừng · test chỉ dùng đúng một lần ở bước cuối.</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8</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Ba kiến trúc mô hình</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Phần đầu phân loại giữ giống nhau ở cả ba — chỉ khác backbone</a:t>
            </a:r>
            <a:endParaRPr lang="en-US" sz="1400" dirty="0"/>
          </a:p>
        </p:txBody>
      </p:sp>
      <p:sp>
        <p:nvSpPr>
          <p:cNvPr id="6" name="Shape 3"/>
          <p:cNvSpPr/>
          <p:nvPr/>
        </p:nvSpPr>
        <p:spPr>
          <a:xfrm>
            <a:off x="594360" y="1776222"/>
            <a:ext cx="3453384" cy="2788920"/>
          </a:xfrm>
          <a:prstGeom prst="roundRect">
            <a:avLst>
              <a:gd name="adj" fmla="val 2951"/>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7" name="Text 4"/>
          <p:cNvSpPr/>
          <p:nvPr/>
        </p:nvSpPr>
        <p:spPr>
          <a:xfrm>
            <a:off x="914400" y="1997050"/>
            <a:ext cx="2813304" cy="237744"/>
          </a:xfrm>
          <a:prstGeom prst="rect">
            <a:avLst/>
          </a:prstGeom>
          <a:noFill/>
          <a:ln/>
        </p:spPr>
        <p:txBody>
          <a:bodyPr wrap="square" lIns="0" tIns="0" rIns="0" bIns="0" rtlCol="0" anchor="ctr"/>
          <a:lstStyle/>
          <a:p>
            <a:pPr indent="0" marL="0">
              <a:buNone/>
            </a:pPr>
            <a:r>
              <a:rPr lang="en-US" sz="1050" b="1" spc="150" kern="0" dirty="0">
                <a:solidFill>
                  <a:srgbClr val="12233F"/>
                </a:solidFill>
                <a:latin typeface="Calibri" pitchFamily="34" charset="0"/>
                <a:ea typeface="Calibri" pitchFamily="34" charset="-122"/>
                <a:cs typeface="Calibri" pitchFamily="34" charset="-120"/>
              </a:rPr>
              <a:t>MỐC CƠ SỞ</a:t>
            </a:r>
            <a:endParaRPr lang="en-US" sz="1050" dirty="0"/>
          </a:p>
        </p:txBody>
      </p:sp>
      <p:sp>
        <p:nvSpPr>
          <p:cNvPr id="8" name="Text 5"/>
          <p:cNvSpPr/>
          <p:nvPr/>
        </p:nvSpPr>
        <p:spPr>
          <a:xfrm>
            <a:off x="914400" y="2265883"/>
            <a:ext cx="2813304" cy="365760"/>
          </a:xfrm>
          <a:prstGeom prst="rect">
            <a:avLst/>
          </a:prstGeom>
          <a:noFill/>
          <a:ln/>
        </p:spPr>
        <p:txBody>
          <a:bodyPr wrap="square" lIns="0" tIns="0" rIns="0" bIns="0" rtlCol="0" anchor="ctr"/>
          <a:lstStyle/>
          <a:p>
            <a:pPr indent="0" marL="0">
              <a:buNone/>
            </a:pPr>
            <a:r>
              <a:rPr lang="en-US" sz="1900" b="1" dirty="0">
                <a:solidFill>
                  <a:srgbClr val="12233F"/>
                </a:solidFill>
                <a:latin typeface="Cambria" pitchFamily="34" charset="0"/>
                <a:ea typeface="Cambria" pitchFamily="34" charset="-122"/>
                <a:cs typeface="Cambria" pitchFamily="34" charset="-120"/>
              </a:rPr>
              <a:t>CNN tự thiết kế</a:t>
            </a:r>
            <a:endParaRPr lang="en-US" sz="1900" dirty="0"/>
          </a:p>
        </p:txBody>
      </p:sp>
      <p:sp>
        <p:nvSpPr>
          <p:cNvPr id="9" name="Text 6"/>
          <p:cNvSpPr/>
          <p:nvPr/>
        </p:nvSpPr>
        <p:spPr>
          <a:xfrm>
            <a:off x="914400" y="2784348"/>
            <a:ext cx="2813304" cy="16916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4 khối tích chập nối tiếp</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Bộ lọc 32 → 64 → 128 → 256</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Conv – BN – ReLU (×2) + MaxPool</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Huấn luyện từ đầu, không dùng trọng số sẵn</a:t>
            </a:r>
            <a:endParaRPr lang="en-US" sz="1200" dirty="0"/>
          </a:p>
        </p:txBody>
      </p:sp>
      <p:sp>
        <p:nvSpPr>
          <p:cNvPr id="10" name="Shape 7"/>
          <p:cNvSpPr/>
          <p:nvPr/>
        </p:nvSpPr>
        <p:spPr>
          <a:xfrm>
            <a:off x="4367784" y="1776222"/>
            <a:ext cx="3453384" cy="2788920"/>
          </a:xfrm>
          <a:prstGeom prst="roundRect">
            <a:avLst>
              <a:gd name="adj" fmla="val 2951"/>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1" name="Text 8"/>
          <p:cNvSpPr/>
          <p:nvPr/>
        </p:nvSpPr>
        <p:spPr>
          <a:xfrm>
            <a:off x="4687824" y="1997050"/>
            <a:ext cx="2813304" cy="237744"/>
          </a:xfrm>
          <a:prstGeom prst="rect">
            <a:avLst/>
          </a:prstGeom>
          <a:noFill/>
          <a:ln/>
        </p:spPr>
        <p:txBody>
          <a:bodyPr wrap="square" lIns="0" tIns="0" rIns="0" bIns="0" rtlCol="0" anchor="ctr"/>
          <a:lstStyle/>
          <a:p>
            <a:pPr indent="0" marL="0">
              <a:buNone/>
            </a:pPr>
            <a:r>
              <a:rPr lang="en-US" sz="1050" b="1" spc="150" kern="0" dirty="0">
                <a:solidFill>
                  <a:srgbClr val="2E8B8B"/>
                </a:solidFill>
                <a:latin typeface="Calibri" pitchFamily="34" charset="0"/>
                <a:ea typeface="Calibri" pitchFamily="34" charset="-122"/>
                <a:cs typeface="Calibri" pitchFamily="34" charset="-120"/>
              </a:rPr>
              <a:t>HỌC CHUYỂN GIAO</a:t>
            </a:r>
            <a:endParaRPr lang="en-US" sz="1050" dirty="0"/>
          </a:p>
        </p:txBody>
      </p:sp>
      <p:sp>
        <p:nvSpPr>
          <p:cNvPr id="12" name="Text 9"/>
          <p:cNvSpPr/>
          <p:nvPr/>
        </p:nvSpPr>
        <p:spPr>
          <a:xfrm>
            <a:off x="4687824" y="2265883"/>
            <a:ext cx="2813304" cy="365760"/>
          </a:xfrm>
          <a:prstGeom prst="rect">
            <a:avLst/>
          </a:prstGeom>
          <a:noFill/>
          <a:ln/>
        </p:spPr>
        <p:txBody>
          <a:bodyPr wrap="square" lIns="0" tIns="0" rIns="0" bIns="0" rtlCol="0" anchor="ctr"/>
          <a:lstStyle/>
          <a:p>
            <a:pPr indent="0" marL="0">
              <a:buNone/>
            </a:pPr>
            <a:r>
              <a:rPr lang="en-US" sz="1900" b="1" dirty="0">
                <a:solidFill>
                  <a:srgbClr val="12233F"/>
                </a:solidFill>
                <a:latin typeface="Cambria" pitchFamily="34" charset="0"/>
                <a:ea typeface="Cambria" pitchFamily="34" charset="-122"/>
                <a:cs typeface="Cambria" pitchFamily="34" charset="-120"/>
              </a:rPr>
              <a:t>ResNet50</a:t>
            </a:r>
            <a:endParaRPr lang="en-US" sz="1900" dirty="0"/>
          </a:p>
        </p:txBody>
      </p:sp>
      <p:sp>
        <p:nvSpPr>
          <p:cNvPr id="13" name="Text 10"/>
          <p:cNvSpPr/>
          <p:nvPr/>
        </p:nvSpPr>
        <p:spPr>
          <a:xfrm>
            <a:off x="4687824" y="2784348"/>
            <a:ext cx="2813304" cy="16916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Trọng số huấn luyện sẵn trên ImageNet</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Kết nối tắt giúp mạng sâu vẫn hội tụ</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Backbone giữ nguyên, thay phần đầu</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Ứng viên cho độ chính xác cao nhất</a:t>
            </a:r>
            <a:endParaRPr lang="en-US" sz="1200" dirty="0"/>
          </a:p>
        </p:txBody>
      </p:sp>
      <p:sp>
        <p:nvSpPr>
          <p:cNvPr id="14" name="Shape 11"/>
          <p:cNvSpPr/>
          <p:nvPr/>
        </p:nvSpPr>
        <p:spPr>
          <a:xfrm>
            <a:off x="8141208" y="1776222"/>
            <a:ext cx="3453384" cy="2788920"/>
          </a:xfrm>
          <a:prstGeom prst="roundRect">
            <a:avLst>
              <a:gd name="adj" fmla="val 2951"/>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5" name="Text 12"/>
          <p:cNvSpPr/>
          <p:nvPr/>
        </p:nvSpPr>
        <p:spPr>
          <a:xfrm>
            <a:off x="8461248" y="1997050"/>
            <a:ext cx="2813304" cy="237744"/>
          </a:xfrm>
          <a:prstGeom prst="rect">
            <a:avLst/>
          </a:prstGeom>
          <a:noFill/>
          <a:ln/>
        </p:spPr>
        <p:txBody>
          <a:bodyPr wrap="square" lIns="0" tIns="0" rIns="0" bIns="0" rtlCol="0" anchor="ctr"/>
          <a:lstStyle/>
          <a:p>
            <a:pPr indent="0" marL="0">
              <a:buNone/>
            </a:pPr>
            <a:r>
              <a:rPr lang="en-US" sz="1050" b="1" spc="150" kern="0" dirty="0">
                <a:solidFill>
                  <a:srgbClr val="E8A33D"/>
                </a:solidFill>
                <a:latin typeface="Calibri" pitchFamily="34" charset="0"/>
                <a:ea typeface="Calibri" pitchFamily="34" charset="-122"/>
                <a:cs typeface="Calibri" pitchFamily="34" charset="-120"/>
              </a:rPr>
              <a:t>HỌC CHUYỂN GIAO</a:t>
            </a:r>
            <a:endParaRPr lang="en-US" sz="1050" dirty="0"/>
          </a:p>
        </p:txBody>
      </p:sp>
      <p:sp>
        <p:nvSpPr>
          <p:cNvPr id="16" name="Text 13"/>
          <p:cNvSpPr/>
          <p:nvPr/>
        </p:nvSpPr>
        <p:spPr>
          <a:xfrm>
            <a:off x="8461248" y="2265883"/>
            <a:ext cx="2813304" cy="365760"/>
          </a:xfrm>
          <a:prstGeom prst="rect">
            <a:avLst/>
          </a:prstGeom>
          <a:noFill/>
          <a:ln/>
        </p:spPr>
        <p:txBody>
          <a:bodyPr wrap="square" lIns="0" tIns="0" rIns="0" bIns="0" rtlCol="0" anchor="ctr"/>
          <a:lstStyle/>
          <a:p>
            <a:pPr indent="0" marL="0">
              <a:buNone/>
            </a:pPr>
            <a:r>
              <a:rPr lang="en-US" sz="1900" b="1" dirty="0">
                <a:solidFill>
                  <a:srgbClr val="12233F"/>
                </a:solidFill>
                <a:latin typeface="Cambria" pitchFamily="34" charset="0"/>
                <a:ea typeface="Cambria" pitchFamily="34" charset="-122"/>
                <a:cs typeface="Cambria" pitchFamily="34" charset="-120"/>
              </a:rPr>
              <a:t>MobileNetV2</a:t>
            </a:r>
            <a:endParaRPr lang="en-US" sz="1900" dirty="0"/>
          </a:p>
        </p:txBody>
      </p:sp>
      <p:sp>
        <p:nvSpPr>
          <p:cNvPr id="17" name="Text 14"/>
          <p:cNvSpPr/>
          <p:nvPr/>
        </p:nvSpPr>
        <p:spPr>
          <a:xfrm>
            <a:off x="8461248" y="2784348"/>
            <a:ext cx="2813304" cy="16916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Tích chập tách rời theo chiều sâu</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Giảm ~8–9 lần khối lượng tính toán</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Nhẹ, phù hợp thiết bị biên</a:t>
            </a:r>
            <a:endParaRPr lang="en-US" sz="1200" dirty="0"/>
          </a:p>
          <a:p>
            <a:pPr marL="342900" indent="-342900">
              <a:spcAft>
                <a:spcPts val="700"/>
              </a:spcAft>
              <a:buSzPct val="100000"/>
              <a:buChar char="•"/>
            </a:pPr>
            <a:r>
              <a:rPr lang="en-US" sz="1200" dirty="0">
                <a:solidFill>
                  <a:srgbClr val="2C3E56"/>
                </a:solidFill>
                <a:latin typeface="Calibri" pitchFamily="34" charset="0"/>
                <a:ea typeface="Calibri" pitchFamily="34" charset="-122"/>
                <a:cs typeface="Calibri" pitchFamily="34" charset="-120"/>
              </a:rPr>
              <a:t>Ứng viên cho suy luận thời gian thực</a:t>
            </a:r>
            <a:endParaRPr lang="en-US" sz="1200" dirty="0"/>
          </a:p>
        </p:txBody>
      </p:sp>
      <p:sp>
        <p:nvSpPr>
          <p:cNvPr id="18" name="Shape 15"/>
          <p:cNvSpPr/>
          <p:nvPr/>
        </p:nvSpPr>
        <p:spPr>
          <a:xfrm>
            <a:off x="594360" y="4944618"/>
            <a:ext cx="11000232" cy="1051560"/>
          </a:xfrm>
          <a:prstGeom prst="roundRect">
            <a:avLst>
              <a:gd name="adj" fmla="val 7826"/>
            </a:avLst>
          </a:prstGeom>
          <a:solidFill>
            <a:srgbClr val="EEF2F7"/>
          </a:solidFill>
          <a:ln w="12700">
            <a:solidFill>
              <a:srgbClr val="EEF2F7"/>
            </a:solidFill>
            <a:prstDash val="solid"/>
          </a:ln>
          <a:effectLst>
            <a:outerShdw sx="100000" sy="100000" kx="0" ky="0" algn="bl" rotWithShape="0" blurRad="127000" dist="25400" dir="5400000">
              <a:srgbClr val="9AA8BC">
                <a:alpha val="10000"/>
              </a:srgbClr>
            </a:outerShdw>
          </a:effectLst>
        </p:spPr>
      </p:sp>
      <p:sp>
        <p:nvSpPr>
          <p:cNvPr id="19" name="Text 16"/>
          <p:cNvSpPr/>
          <p:nvPr/>
        </p:nvSpPr>
        <p:spPr>
          <a:xfrm>
            <a:off x="978408" y="5107838"/>
            <a:ext cx="2926080" cy="274320"/>
          </a:xfrm>
          <a:prstGeom prst="rect">
            <a:avLst/>
          </a:prstGeom>
          <a:noFill/>
          <a:ln/>
        </p:spPr>
        <p:txBody>
          <a:bodyPr wrap="square" lIns="0" tIns="0" rIns="0" bIns="0" rtlCol="0" anchor="ctr"/>
          <a:lstStyle/>
          <a:p>
            <a:pPr indent="0" marL="0">
              <a:buNone/>
            </a:pPr>
            <a:r>
              <a:rPr lang="en-US" sz="1350" b="1" dirty="0">
                <a:solidFill>
                  <a:srgbClr val="12233F"/>
                </a:solidFill>
                <a:latin typeface="Calibri" pitchFamily="34" charset="0"/>
                <a:ea typeface="Calibri" pitchFamily="34" charset="-122"/>
                <a:cs typeface="Calibri" pitchFamily="34" charset="-120"/>
              </a:rPr>
              <a:t>Huấn luyện hai giai đoạn</a:t>
            </a:r>
            <a:endParaRPr lang="en-US" sz="1350" dirty="0"/>
          </a:p>
        </p:txBody>
      </p:sp>
      <p:sp>
        <p:nvSpPr>
          <p:cNvPr id="20" name="Text 17"/>
          <p:cNvSpPr/>
          <p:nvPr/>
        </p:nvSpPr>
        <p:spPr>
          <a:xfrm>
            <a:off x="978408" y="5415077"/>
            <a:ext cx="10232136" cy="502920"/>
          </a:xfrm>
          <a:prstGeom prst="rect">
            <a:avLst/>
          </a:prstGeom>
          <a:noFill/>
          <a:ln/>
        </p:spPr>
        <p:txBody>
          <a:bodyPr wrap="square" lIns="0" tIns="0" rIns="0" bIns="0" rtlCol="0" anchor="ctr"/>
          <a:lstStyle/>
          <a:p>
            <a:pPr indent="0" marL="0">
              <a:lnSpc>
                <a:spcPts val="1800"/>
              </a:lnSpc>
              <a:buNone/>
            </a:pPr>
            <a:r>
              <a:rPr lang="en-US" sz="1250" dirty="0">
                <a:solidFill>
                  <a:srgbClr val="2C3E56"/>
                </a:solidFill>
                <a:latin typeface="Calibri" pitchFamily="34" charset="0"/>
                <a:ea typeface="Calibri" pitchFamily="34" charset="-122"/>
                <a:cs typeface="Calibri" pitchFamily="34" charset="-120"/>
              </a:rPr>
              <a:t>Giai đoạn 1 — đóng băng backbone, chỉ huấn luyện phần đầu phân loại với lr = 10⁻³.    Giai đoạn 2 — mở khoá 30 tầng cuối, tinh chỉnh với lr = 10⁻⁵ để không phá huỷ tri thức đã học từ ImageNet.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9</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Thiết kế thí nghiệm</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Ma trận đối chứng đầy đủ: 3 mô hình × 2 giao thức</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776222"/>
          <a:ext cx="6720840" cy="914400"/>
        </p:xfrm>
        <a:graphic>
          <a:graphicData uri="http://schemas.openxmlformats.org/drawingml/2006/table">
            <a:tbl>
              <a:tblPr/>
              <a:tblGrid>
                <a:gridCol w="640080"/>
                <a:gridCol w="1965960"/>
                <a:gridCol w="1828800"/>
                <a:gridCol w="2286000"/>
              </a:tblGrid>
              <a:tr h="384048">
                <a:tc>
                  <a:txBody>
                    <a:bodyPr/>
                    <a:lstStyle/>
                    <a:p>
                      <a:pPr indent="0" marL="0">
                        <a:buNone/>
                      </a:pPr>
                      <a:r>
                        <a:rPr lang="en-US" sz="1150" b="1" dirty="0">
                          <a:solidFill>
                            <a:srgbClr val="2C3E56"/>
                          </a:solidFill>
                          <a:latin typeface="Calibri" pitchFamily="34" charset="0"/>
                          <a:ea typeface="Calibri" pitchFamily="34" charset="-122"/>
                          <a:cs typeface="Calibri" pitchFamily="34" charset="-120"/>
                        </a:rPr>
                        <a:t>Mã</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b="1" dirty="0">
                          <a:solidFill>
                            <a:srgbClr val="2C3E56"/>
                          </a:solidFill>
                          <a:latin typeface="Calibri" pitchFamily="34" charset="0"/>
                          <a:ea typeface="Calibri" pitchFamily="34" charset="-122"/>
                          <a:cs typeface="Calibri" pitchFamily="34" charset="-120"/>
                        </a:rPr>
                        <a:t>Mô hình</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b="1" dirty="0">
                          <a:solidFill>
                            <a:srgbClr val="2C3E56"/>
                          </a:solidFill>
                          <a:latin typeface="Calibri" pitchFamily="34" charset="0"/>
                          <a:ea typeface="Calibri" pitchFamily="34" charset="-122"/>
                          <a:cs typeface="Calibri" pitchFamily="34" charset="-120"/>
                        </a:rPr>
                        <a:t>Giao thức</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b="1" dirty="0">
                          <a:solidFill>
                            <a:srgbClr val="2C3E56"/>
                          </a:solidFill>
                          <a:latin typeface="Calibri" pitchFamily="34" charset="0"/>
                          <a:ea typeface="Calibri" pitchFamily="34" charset="-122"/>
                          <a:cs typeface="Calibri" pitchFamily="34" charset="-120"/>
                        </a:rPr>
                        <a:t>Vai trò</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E1</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CNN tự thiết kế</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A – Ngẫu nhiên</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Mốc cơ sở</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E2</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ResNet50</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A – Ngẫu nhiên</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Đối chiếu với tài liệu</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E3</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MobileNetV2</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A – Ngẫu nhiên</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Đối chiếu với tài liệu</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E4</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CNN tự thiết kế</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B – Theo người</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Mốc cơ sở đánh giá đúng</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E5</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ResNet50</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B – Theo người</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Pipeline đề xuất</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E6</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MobileNetV2</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B – Theo người</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2C3E56"/>
                          </a:solidFill>
                          <a:latin typeface="Calibri" pitchFamily="34" charset="0"/>
                          <a:ea typeface="Calibri" pitchFamily="34" charset="-122"/>
                          <a:cs typeface="Calibri" pitchFamily="34" charset="-120"/>
                        </a:rPr>
                        <a:t>Pipeline đề xuất — realtime</a:t>
                      </a:r>
                      <a:endParaRPr lang="en-US" sz="11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7" name="Shape 3"/>
          <p:cNvSpPr/>
          <p:nvPr/>
        </p:nvSpPr>
        <p:spPr>
          <a:xfrm>
            <a:off x="7772400" y="1776222"/>
            <a:ext cx="3822192" cy="3931920"/>
          </a:xfrm>
          <a:prstGeom prst="roundRect">
            <a:avLst>
              <a:gd name="adj" fmla="val 2153"/>
            </a:avLst>
          </a:prstGeom>
          <a:solidFill>
            <a:srgbClr val="EEF2F7"/>
          </a:solidFill>
          <a:ln w="12700">
            <a:solidFill>
              <a:srgbClr val="EEF2F7"/>
            </a:solidFill>
            <a:prstDash val="solid"/>
          </a:ln>
          <a:effectLst>
            <a:outerShdw sx="100000" sy="100000" kx="0" ky="0" algn="bl" rotWithShape="0" blurRad="127000" dist="25400" dir="5400000">
              <a:srgbClr val="9AA8BC">
                <a:alpha val="10000"/>
              </a:srgbClr>
            </a:outerShdw>
          </a:effectLst>
        </p:spPr>
      </p:sp>
      <p:sp>
        <p:nvSpPr>
          <p:cNvPr id="8" name="Text 4"/>
          <p:cNvSpPr/>
          <p:nvPr/>
        </p:nvSpPr>
        <p:spPr>
          <a:xfrm>
            <a:off x="8092440" y="1997050"/>
            <a:ext cx="3182112" cy="292608"/>
          </a:xfrm>
          <a:prstGeom prst="rect">
            <a:avLst/>
          </a:prstGeom>
          <a:noFill/>
          <a:ln/>
        </p:spPr>
        <p:txBody>
          <a:bodyPr wrap="square" lIns="0" tIns="0" rIns="0" bIns="0"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Siêu tham số cố định</a:t>
            </a:r>
            <a:endParaRPr lang="en-US" sz="1500" dirty="0"/>
          </a:p>
        </p:txBody>
      </p:sp>
      <p:sp>
        <p:nvSpPr>
          <p:cNvPr id="9" name="Text 5"/>
          <p:cNvSpPr/>
          <p:nvPr/>
        </p:nvSpPr>
        <p:spPr>
          <a:xfrm>
            <a:off x="8092440" y="2448306"/>
            <a:ext cx="155448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Ảnh đầu vào</a:t>
            </a:r>
            <a:endParaRPr lang="en-US" sz="1150" dirty="0"/>
          </a:p>
        </p:txBody>
      </p:sp>
      <p:sp>
        <p:nvSpPr>
          <p:cNvPr id="10" name="Text 6"/>
          <p:cNvSpPr/>
          <p:nvPr/>
        </p:nvSpPr>
        <p:spPr>
          <a:xfrm>
            <a:off x="9692640" y="2448306"/>
            <a:ext cx="1581912"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224 × 224 × 3</a:t>
            </a:r>
            <a:endParaRPr lang="en-US" sz="1150" dirty="0"/>
          </a:p>
        </p:txBody>
      </p:sp>
      <p:sp>
        <p:nvSpPr>
          <p:cNvPr id="11" name="Text 7"/>
          <p:cNvSpPr/>
          <p:nvPr/>
        </p:nvSpPr>
        <p:spPr>
          <a:xfrm>
            <a:off x="8092440" y="2870759"/>
            <a:ext cx="155448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Batch size</a:t>
            </a:r>
            <a:endParaRPr lang="en-US" sz="1150" dirty="0"/>
          </a:p>
        </p:txBody>
      </p:sp>
      <p:sp>
        <p:nvSpPr>
          <p:cNvPr id="12" name="Text 8"/>
          <p:cNvSpPr/>
          <p:nvPr/>
        </p:nvSpPr>
        <p:spPr>
          <a:xfrm>
            <a:off x="9692640" y="2870759"/>
            <a:ext cx="1581912"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64</a:t>
            </a:r>
            <a:endParaRPr lang="en-US" sz="1150" dirty="0"/>
          </a:p>
        </p:txBody>
      </p:sp>
      <p:sp>
        <p:nvSpPr>
          <p:cNvPr id="13" name="Text 9"/>
          <p:cNvSpPr/>
          <p:nvPr/>
        </p:nvSpPr>
        <p:spPr>
          <a:xfrm>
            <a:off x="8092440" y="3293212"/>
            <a:ext cx="155448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Optimizer</a:t>
            </a:r>
            <a:endParaRPr lang="en-US" sz="1150" dirty="0"/>
          </a:p>
        </p:txBody>
      </p:sp>
      <p:sp>
        <p:nvSpPr>
          <p:cNvPr id="14" name="Text 10"/>
          <p:cNvSpPr/>
          <p:nvPr/>
        </p:nvSpPr>
        <p:spPr>
          <a:xfrm>
            <a:off x="9692640" y="3293212"/>
            <a:ext cx="1581912"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Adam</a:t>
            </a:r>
            <a:endParaRPr lang="en-US" sz="1150" dirty="0"/>
          </a:p>
        </p:txBody>
      </p:sp>
      <p:sp>
        <p:nvSpPr>
          <p:cNvPr id="15" name="Text 11"/>
          <p:cNvSpPr/>
          <p:nvPr/>
        </p:nvSpPr>
        <p:spPr>
          <a:xfrm>
            <a:off x="8092440" y="3715664"/>
            <a:ext cx="155448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Learning rate</a:t>
            </a:r>
            <a:endParaRPr lang="en-US" sz="1150" dirty="0"/>
          </a:p>
        </p:txBody>
      </p:sp>
      <p:sp>
        <p:nvSpPr>
          <p:cNvPr id="16" name="Text 12"/>
          <p:cNvSpPr/>
          <p:nvPr/>
        </p:nvSpPr>
        <p:spPr>
          <a:xfrm>
            <a:off x="9692640" y="3715664"/>
            <a:ext cx="1581912"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10⁻³ → 10⁻⁵</a:t>
            </a:r>
            <a:endParaRPr lang="en-US" sz="1150" dirty="0"/>
          </a:p>
        </p:txBody>
      </p:sp>
      <p:sp>
        <p:nvSpPr>
          <p:cNvPr id="17" name="Text 13"/>
          <p:cNvSpPr/>
          <p:nvPr/>
        </p:nvSpPr>
        <p:spPr>
          <a:xfrm>
            <a:off x="8092440" y="4138117"/>
            <a:ext cx="155448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Loss</a:t>
            </a:r>
            <a:endParaRPr lang="en-US" sz="1150" dirty="0"/>
          </a:p>
        </p:txBody>
      </p:sp>
      <p:sp>
        <p:nvSpPr>
          <p:cNvPr id="18" name="Text 14"/>
          <p:cNvSpPr/>
          <p:nvPr/>
        </p:nvSpPr>
        <p:spPr>
          <a:xfrm>
            <a:off x="9692640" y="4138117"/>
            <a:ext cx="1581912"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Binary cross-entropy</a:t>
            </a:r>
            <a:endParaRPr lang="en-US" sz="1150" dirty="0"/>
          </a:p>
        </p:txBody>
      </p:sp>
      <p:sp>
        <p:nvSpPr>
          <p:cNvPr id="19" name="Text 15"/>
          <p:cNvSpPr/>
          <p:nvPr/>
        </p:nvSpPr>
        <p:spPr>
          <a:xfrm>
            <a:off x="8092440" y="4560570"/>
            <a:ext cx="155448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Epochs</a:t>
            </a:r>
            <a:endParaRPr lang="en-US" sz="1150" dirty="0"/>
          </a:p>
        </p:txBody>
      </p:sp>
      <p:sp>
        <p:nvSpPr>
          <p:cNvPr id="20" name="Text 16"/>
          <p:cNvSpPr/>
          <p:nvPr/>
        </p:nvSpPr>
        <p:spPr>
          <a:xfrm>
            <a:off x="9692640" y="4560570"/>
            <a:ext cx="1581912"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8 + 7</a:t>
            </a:r>
            <a:endParaRPr lang="en-US" sz="1150" dirty="0"/>
          </a:p>
        </p:txBody>
      </p:sp>
      <p:sp>
        <p:nvSpPr>
          <p:cNvPr id="21" name="Text 17"/>
          <p:cNvSpPr/>
          <p:nvPr/>
        </p:nvSpPr>
        <p:spPr>
          <a:xfrm>
            <a:off x="8092440" y="4983023"/>
            <a:ext cx="155448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Early stopping</a:t>
            </a:r>
            <a:endParaRPr lang="en-US" sz="1150" dirty="0"/>
          </a:p>
        </p:txBody>
      </p:sp>
      <p:sp>
        <p:nvSpPr>
          <p:cNvPr id="22" name="Text 18"/>
          <p:cNvSpPr/>
          <p:nvPr/>
        </p:nvSpPr>
        <p:spPr>
          <a:xfrm>
            <a:off x="9692640" y="4983023"/>
            <a:ext cx="1581912"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patience = 4</a:t>
            </a:r>
            <a:endParaRPr lang="en-US" sz="1150" dirty="0"/>
          </a:p>
        </p:txBody>
      </p:sp>
      <p:sp>
        <p:nvSpPr>
          <p:cNvPr id="23" name="Text 19"/>
          <p:cNvSpPr/>
          <p:nvPr/>
        </p:nvSpPr>
        <p:spPr>
          <a:xfrm>
            <a:off x="8092440" y="5405476"/>
            <a:ext cx="155448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Random seed</a:t>
            </a:r>
            <a:endParaRPr lang="en-US" sz="1150" dirty="0"/>
          </a:p>
        </p:txBody>
      </p:sp>
      <p:sp>
        <p:nvSpPr>
          <p:cNvPr id="24" name="Text 20"/>
          <p:cNvSpPr/>
          <p:nvPr/>
        </p:nvSpPr>
        <p:spPr>
          <a:xfrm>
            <a:off x="9692640" y="5405476"/>
            <a:ext cx="1581912"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42</a:t>
            </a:r>
            <a:endParaRPr lang="en-US" sz="1150" dirty="0"/>
          </a:p>
        </p:txBody>
      </p:sp>
      <p:sp>
        <p:nvSpPr>
          <p:cNvPr id="25" name="Text 21"/>
          <p:cNvSpPr/>
          <p:nvPr/>
        </p:nvSpPr>
        <p:spPr>
          <a:xfrm>
            <a:off x="594360" y="5856732"/>
            <a:ext cx="11000232" cy="365760"/>
          </a:xfrm>
          <a:prstGeom prst="rect">
            <a:avLst/>
          </a:prstGeom>
          <a:noFill/>
          <a:ln/>
        </p:spPr>
        <p:txBody>
          <a:bodyPr wrap="square" lIns="0" tIns="0" rIns="0" bIns="0" rtlCol="0" anchor="ctr"/>
          <a:lstStyle/>
          <a:p>
            <a:pPr indent="0" marL="0">
              <a:buNone/>
            </a:pPr>
            <a:r>
              <a:rPr lang="en-US" sz="1150" i="1" dirty="0">
                <a:solidFill>
                  <a:srgbClr val="6B7A90"/>
                </a:solidFill>
                <a:latin typeface="Calibri" pitchFamily="34" charset="0"/>
                <a:ea typeface="Calibri" pitchFamily="34" charset="-122"/>
                <a:cs typeface="Calibri" pitchFamily="34" charset="-120"/>
              </a:rPr>
              <a:t>Môi trường: Google Colab · GPU NVIDIA Tesla T4 · Python [ĐIỀN] · TensorFlow [ĐIỀN] · mixed precision float16</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10</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Quá trình huấn luyện</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Loss và Accuracy theo epoch — hình tự xuất từ Python ở 300 DPI</a:t>
            </a:r>
            <a:endParaRPr lang="en-US" sz="1400" dirty="0"/>
          </a:p>
        </p:txBody>
      </p:sp>
      <p:sp>
        <p:nvSpPr>
          <p:cNvPr id="6" name="Shape 3"/>
          <p:cNvSpPr/>
          <p:nvPr/>
        </p:nvSpPr>
        <p:spPr>
          <a:xfrm>
            <a:off x="594360" y="1776222"/>
            <a:ext cx="7680960" cy="3291840"/>
          </a:xfrm>
          <a:prstGeom prst="roundRect">
            <a:avLst>
              <a:gd name="adj" fmla="val 2222"/>
            </a:avLst>
          </a:prstGeom>
          <a:solidFill>
            <a:srgbClr val="EEF2F7"/>
          </a:solidFill>
          <a:ln w="15875">
            <a:solidFill>
              <a:srgbClr val="C3CEDC"/>
            </a:solidFill>
            <a:prstDash val="dash"/>
          </a:ln>
        </p:spPr>
        <p:txBody>
          <a:bodyPr/>
          <a:p/>
        </p:txBody>
      </p:sp>
      <p:sp>
        <p:nvSpPr>
          <p:cNvPr id="7" name="Text 4"/>
          <p:cNvSpPr/>
          <p:nvPr/>
        </p:nvSpPr>
        <p:spPr>
          <a:xfrm>
            <a:off x="777240" y="1776222"/>
            <a:ext cx="7315200" cy="3291840"/>
          </a:xfrm>
          <a:prstGeom prst="rect">
            <a:avLst/>
          </a:prstGeom>
          <a:noFill/>
          <a:ln/>
        </p:spPr>
        <p:txBody>
          <a:bodyPr wrap="square" lIns="0" tIns="0" rIns="0" bIns="0" rtlCol="0" anchor="ctr"/>
          <a:lstStyle/>
          <a:p/>
        </p:txBody>
      </p:sp>
      <p:sp>
        <p:nvSpPr>
          <p:cNvPr id="8" name="Shape 5"/>
          <p:cNvSpPr/>
          <p:nvPr/>
        </p:nvSpPr>
        <p:spPr>
          <a:xfrm>
            <a:off x="8595360" y="1776222"/>
            <a:ext cx="2999232" cy="3291840"/>
          </a:xfrm>
          <a:prstGeom prst="roundRect">
            <a:avLst>
              <a:gd name="adj" fmla="val 2744"/>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txBody>
          <a:bodyPr/>
          <a:p/>
        </p:txBody>
      </p:sp>
      <p:sp>
        <p:nvSpPr>
          <p:cNvPr id="9" name="Text 6"/>
          <p:cNvSpPr/>
          <p:nvPr/>
        </p:nvSpPr>
        <p:spPr>
          <a:xfrm>
            <a:off x="8887968" y="1997050"/>
            <a:ext cx="2414016" cy="274320"/>
          </a:xfrm>
          <a:prstGeom prst="rect">
            <a:avLst/>
          </a:prstGeom>
          <a:noFill/>
          <a:ln/>
        </p:spPr>
        <p:txBody>
          <a:bodyPr wrap="square" lIns="0" tIns="0" rIns="0" bIns="0"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Nhận xét</a:t>
            </a:r>
            <a:endParaRPr lang="en-US" sz="1500" dirty="0"/>
          </a:p>
        </p:txBody>
      </p:sp>
      <p:sp>
        <p:nvSpPr>
          <p:cNvPr id="10" name="Text 7"/>
          <p:cNvSpPr/>
          <p:nvPr/>
        </p:nvSpPr>
        <p:spPr>
          <a:xfrm>
            <a:off x="8887968" y="2400300"/>
            <a:ext cx="2414016" cy="246888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2C3E56"/>
                </a:solidFill>
                <a:latin typeface="Calibri" pitchFamily="34" charset="0"/>
                <a:ea typeface="Calibri" pitchFamily="34" charset="-122"/>
                <a:cs typeface="Calibri" pitchFamily="34" charset="-120"/>
              </a:rPr>
              <a:t>Mô hình hội tụ ở epoch thứ [ĐIỀN]</a:t>
            </a:r>
            <a:endParaRPr lang="en-US" sz="1200" dirty="0"/>
          </a:p>
          <a:p>
            <a:pPr marL="342900" indent="-342900">
              <a:spcAft>
                <a:spcPts val="1000"/>
              </a:spcAft>
              <a:buSzPct val="100000"/>
              <a:buChar char="•"/>
            </a:pPr>
            <a:r>
              <a:rPr lang="en-US" sz="1200" dirty="0">
                <a:solidFill>
                  <a:srgbClr val="2C3E56"/>
                </a:solidFill>
                <a:latin typeface="Calibri" pitchFamily="34" charset="0"/>
                <a:ea typeface="Calibri" pitchFamily="34" charset="-122"/>
                <a:cs typeface="Calibri" pitchFamily="34" charset="-120"/>
              </a:rPr>
              <a:t>Khoảng cách train–validation: [ĐIỀN]</a:t>
            </a:r>
            <a:endParaRPr lang="en-US" sz="1200" dirty="0"/>
          </a:p>
          <a:p>
            <a:pPr marL="342900" indent="-342900">
              <a:spcAft>
                <a:spcPts val="1000"/>
              </a:spcAft>
              <a:buSzPct val="100000"/>
              <a:buChar char="•"/>
            </a:pPr>
            <a:r>
              <a:rPr lang="en-US" sz="1200" dirty="0">
                <a:solidFill>
                  <a:srgbClr val="2C3E56"/>
                </a:solidFill>
                <a:latin typeface="Calibri" pitchFamily="34" charset="0"/>
                <a:ea typeface="Calibri" pitchFamily="34" charset="-122"/>
                <a:cs typeface="Calibri" pitchFamily="34" charset="-120"/>
              </a:rPr>
              <a:t>Thời điểm chuyển giai đoạn: [ĐIỀN]</a:t>
            </a:r>
            <a:endParaRPr lang="en-US" sz="1200" dirty="0"/>
          </a:p>
          <a:p>
            <a:pPr marL="342900" indent="-342900">
              <a:spcAft>
                <a:spcPts val="1000"/>
              </a:spcAft>
              <a:buSzPct val="100000"/>
              <a:buChar char="•"/>
            </a:pPr>
            <a:r>
              <a:rPr lang="en-US" sz="1200" dirty="0">
                <a:solidFill>
                  <a:srgbClr val="2C3E56"/>
                </a:solidFill>
                <a:latin typeface="Calibri" pitchFamily="34" charset="0"/>
                <a:ea typeface="Calibri" pitchFamily="34" charset="-122"/>
                <a:cs typeface="Calibri" pitchFamily="34" charset="-120"/>
              </a:rPr>
              <a:t>Dấu hiệu quá khớp: [ĐIỀN]</a:t>
            </a:r>
            <a:endParaRPr lang="en-US" sz="1200" dirty="0"/>
          </a:p>
        </p:txBody>
      </p:sp>
      <p:sp>
        <p:nvSpPr>
          <p:cNvPr id="11" name="Text 8"/>
          <p:cNvSpPr/>
          <p:nvPr/>
        </p:nvSpPr>
        <p:spPr>
          <a:xfrm>
            <a:off x="594360" y="5472684"/>
            <a:ext cx="11000232" cy="457200"/>
          </a:xfrm>
          <a:prstGeom prst="rect">
            <a:avLst/>
          </a:prstGeom>
          <a:noFill/>
          <a:ln/>
        </p:spPr>
        <p:txBody>
          <a:bodyPr wrap="square" lIns="0" tIns="0" rIns="0" bIns="0" rtlCol="0" anchor="ctr"/>
          <a:lstStyle/>
          <a:p>
            <a:pPr indent="0" marL="0">
              <a:buNone/>
            </a:pPr>
            <a:r>
              <a:rPr lang="en-US" sz="1300" i="1" dirty="0">
                <a:solidFill>
                  <a:srgbClr val="2C3E56"/>
                </a:solidFill>
                <a:latin typeface="Calibri" pitchFamily="34" charset="0"/>
                <a:ea typeface="Calibri" pitchFamily="34" charset="-122"/>
                <a:cs typeface="Calibri" pitchFamily="34" charset="-120"/>
              </a:rPr>
              <a:t>Mọi quyết định về siêu tham số và thời điểm dừng đều dựa hoàn toàn trên tập validation. Tập test không tham gia bất kỳ khâu nào của quá trình huấn luyện.</a:t>
            </a:r>
            <a:endParaRPr lang="en-US" sz="1300" dirty="0"/>
          </a:p>
        </p:txBody>
      </p:sp>
      <p:pic>
        <p:nvPicPr>
          <p:cNvPr id="12" name="Picture 11" descr="hinh_E5_duong_cong_huan_luyen.png"/>
          <p:cNvPicPr>
            <a:picLocks noChangeAspect="1"/>
          </p:cNvPicPr>
          <p:nvPr/>
        </p:nvPicPr>
        <p:blipFill>
          <a:blip r:embed="rId3"/>
          <a:stretch>
            <a:fillRect/>
          </a:stretch>
        </p:blipFill>
        <p:spPr>
          <a:xfrm>
            <a:off x="640080" y="1463040"/>
            <a:ext cx="7315200" cy="325174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11</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Kết quả trên tập kiểm thử</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Số liệu điền từ tệp bang_ket_qua_tong_hop.csv</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824228"/>
          <a:ext cx="11000232" cy="914400"/>
        </p:xfrm>
        <a:graphic>
          <a:graphicData uri="http://schemas.openxmlformats.org/drawingml/2006/table">
            <a:tbl>
              <a:tblPr/>
              <a:tblGrid>
                <a:gridCol w="731520"/>
                <a:gridCol w="2286000"/>
                <a:gridCol w="1234440"/>
                <a:gridCol w="1234440"/>
                <a:gridCol w="1280160"/>
                <a:gridCol w="1143000"/>
                <a:gridCol w="1234440"/>
                <a:gridCol w="1399032"/>
              </a:tblGrid>
              <a:tr h="42976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Mã</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12233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Mô hình</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12233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Giao thức</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12233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12233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12233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12233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F1-Score</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12233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ROC-AUC</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12233F"/>
                    </a:solidFill>
                  </a:tcPr>
                </a:tc>
              </a:tr>
              <a:tr h="429768">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E1</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CNN tự thiết kế</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9768">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E2</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ResNet50</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9768">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E3</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MobileNetV2</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9768">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E4</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CNN tự thiết kế</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9768">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E5</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ResNet50</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9768">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E6</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MobileNetV2</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C3E5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7" name="Shape 3"/>
          <p:cNvSpPr/>
          <p:nvPr/>
        </p:nvSpPr>
        <p:spPr>
          <a:xfrm>
            <a:off x="594360" y="5136642"/>
            <a:ext cx="11000232" cy="1005840"/>
          </a:xfrm>
          <a:prstGeom prst="roundRect">
            <a:avLst>
              <a:gd name="adj" fmla="val 8182"/>
            </a:avLst>
          </a:prstGeom>
          <a:solidFill>
            <a:srgbClr val="FDF3E3"/>
          </a:solidFill>
          <a:ln w="12700">
            <a:solidFill>
              <a:srgbClr val="FDF3E3"/>
            </a:solidFill>
            <a:prstDash val="solid"/>
          </a:ln>
          <a:effectLst>
            <a:outerShdw sx="100000" sy="100000" kx="0" ky="0" algn="bl" rotWithShape="0" blurRad="127000" dist="25400" dir="5400000">
              <a:srgbClr val="9AA8BC">
                <a:alpha val="10000"/>
              </a:srgbClr>
            </a:outerShdw>
          </a:effectLst>
        </p:spPr>
      </p:sp>
      <p:sp>
        <p:nvSpPr>
          <p:cNvPr id="8" name="Text 4"/>
          <p:cNvSpPr/>
          <p:nvPr/>
        </p:nvSpPr>
        <p:spPr>
          <a:xfrm>
            <a:off x="978408" y="5328666"/>
            <a:ext cx="10232136" cy="658368"/>
          </a:xfrm>
          <a:prstGeom prst="rect">
            <a:avLst/>
          </a:prstGeom>
          <a:noFill/>
          <a:ln/>
        </p:spPr>
        <p:txBody>
          <a:bodyPr wrap="square" lIns="0" tIns="0" rIns="0" bIns="0" rtlCol="0" anchor="ctr"/>
          <a:lstStyle/>
          <a:p>
            <a:pPr indent="0" marL="0">
              <a:lnSpc>
                <a:spcPts val="1900"/>
              </a:lnSpc>
              <a:buNone/>
            </a:pPr>
            <a:r>
              <a:rPr lang="en-US" sz="1300" dirty="0">
                <a:solidFill>
                  <a:srgbClr val="5C4218"/>
                </a:solidFill>
                <a:latin typeface="Calibri" pitchFamily="34" charset="0"/>
                <a:ea typeface="Calibri" pitchFamily="34" charset="-122"/>
                <a:cs typeface="Calibri" pitchFamily="34" charset="-120"/>
              </a:rPr>
              <a:t>Recall của lớp Drowsy là độ đo quan trọng nhất: một trường hợp FN nghĩa là hệ thống bỏ sót tài xế đang buồn ngủ và không phát cảnh báo. Một trường hợp FP chỉ gây phiền toái vì báo nhầm.</a:t>
            </a:r>
            <a:endParaRPr lang="en-US" sz="1300" dirty="0"/>
          </a:p>
        </p:txBody>
      </p:sp>
      <p:graphicFrame>
        <p:nvGraphicFramePr>
          <p:cNvPr id="15" name="Table 14"/>
          <p:cNvGraphicFramePr>
            <a:graphicFrameLocks noGrp="1"/>
          </p:cNvGraphicFramePr>
          <p:nvPr/>
        </p:nvGraphicFramePr>
        <p:xfrm>
          <a:off x="411480" y="1417320"/>
          <a:ext cx="7863840" cy="4114800"/>
        </p:xfrm>
        <a:graphic>
          <a:graphicData uri="http://schemas.openxmlformats.org/drawingml/2006/table">
            <a:tbl>
              <a:tblPr firstRow="1" bandRow="1">
                <a:tableStyleId>{5C22544A-7EE6-4342-B048-85BDC9FD1C3A}</a:tableStyleId>
              </a:tblPr>
              <a:tblGrid>
                <a:gridCol w="1123405"/>
                <a:gridCol w="1123405"/>
                <a:gridCol w="1123405"/>
                <a:gridCol w="1123405"/>
                <a:gridCol w="1123405"/>
                <a:gridCol w="1123405"/>
                <a:gridCol w="1123410"/>
              </a:tblGrid>
              <a:tr h="587828">
                <a:tc>
                  <a:txBody>
                    <a:bodyPr/>
                    <a:lstStyle/>
                    <a:p>
                      <a:pPr algn="ctr">
                        <a:defRPr sz="1000"/>
                      </a:pPr>
                      <a:r>
                        <a:t>TN</a:t>
                      </a:r>
                    </a:p>
                  </a:txBody>
                  <a:tcPr/>
                </a:tc>
                <a:tc>
                  <a:txBody>
                    <a:bodyPr/>
                    <a:lstStyle/>
                    <a:p>
                      <a:pPr algn="ctr">
                        <a:defRPr sz="1000"/>
                      </a:pPr>
                      <a:r>
                        <a:t>Mô hình</a:t>
                      </a:r>
                    </a:p>
                  </a:txBody>
                  <a:tcPr/>
                </a:tc>
                <a:tc>
                  <a:txBody>
                    <a:bodyPr/>
                    <a:lstStyle/>
                    <a:p>
                      <a:pPr algn="ctr">
                        <a:defRPr sz="1000"/>
                      </a:pPr>
                      <a:r>
                        <a:t>Chia</a:t>
                      </a:r>
                    </a:p>
                  </a:txBody>
                  <a:tcPr/>
                </a:tc>
                <a:tc>
                  <a:txBody>
                    <a:bodyPr/>
                    <a:lstStyle/>
                    <a:p>
                      <a:pPr algn="ctr">
                        <a:defRPr sz="1000"/>
                      </a:pPr>
                      <a:r>
                        <a:t>Acc</a:t>
                      </a:r>
                    </a:p>
                  </a:txBody>
                  <a:tcPr/>
                </a:tc>
                <a:tc>
                  <a:txBody>
                    <a:bodyPr/>
                    <a:lstStyle/>
                    <a:p>
                      <a:pPr algn="ctr">
                        <a:defRPr sz="1000"/>
                      </a:pPr>
                      <a:r>
                        <a:t>Prec</a:t>
                      </a:r>
                    </a:p>
                  </a:txBody>
                  <a:tcPr/>
                </a:tc>
                <a:tc>
                  <a:txBody>
                    <a:bodyPr/>
                    <a:lstStyle/>
                    <a:p>
                      <a:pPr algn="ctr">
                        <a:defRPr sz="1000"/>
                      </a:pPr>
                      <a:r>
                        <a:t>Recall</a:t>
                      </a:r>
                    </a:p>
                  </a:txBody>
                  <a:tcPr/>
                </a:tc>
                <a:tc>
                  <a:txBody>
                    <a:bodyPr/>
                    <a:lstStyle/>
                    <a:p>
                      <a:pPr algn="ctr">
                        <a:defRPr sz="1000"/>
                      </a:pPr>
                      <a:r>
                        <a:t>F1</a:t>
                      </a:r>
                    </a:p>
                  </a:txBody>
                  <a:tcPr/>
                </a:tc>
              </a:tr>
              <a:tr h="587828">
                <a:tc>
                  <a:txBody>
                    <a:bodyPr/>
                    <a:lstStyle/>
                    <a:p>
                      <a:pPr algn="ctr">
                        <a:defRPr sz="1000"/>
                      </a:pPr>
                      <a:r>
                        <a:t>E1</a:t>
                      </a:r>
                    </a:p>
                  </a:txBody>
                  <a:tcPr/>
                </a:tc>
                <a:tc>
                  <a:txBody>
                    <a:bodyPr/>
                    <a:lstStyle/>
                    <a:p>
                      <a:pPr algn="ctr">
                        <a:defRPr sz="1000"/>
                      </a:pPr>
                      <a:r>
                        <a:t>CustomCNN</a:t>
                      </a:r>
                    </a:p>
                  </a:txBody>
                  <a:tcPr/>
                </a:tc>
                <a:tc>
                  <a:txBody>
                    <a:bodyPr/>
                    <a:lstStyle/>
                    <a:p>
                      <a:pPr algn="ctr">
                        <a:defRPr sz="1000"/>
                      </a:pPr>
                      <a:r>
                        <a:t>random</a:t>
                      </a:r>
                    </a:p>
                  </a:txBody>
                  <a:tcPr/>
                </a:tc>
                <a:tc>
                  <a:txBody>
                    <a:bodyPr/>
                    <a:lstStyle/>
                    <a:p>
                      <a:pPr algn="ctr">
                        <a:defRPr sz="1000"/>
                      </a:pPr>
                      <a:r>
                        <a:t>0.496</a:t>
                      </a:r>
                    </a:p>
                  </a:txBody>
                  <a:tcPr/>
                </a:tc>
                <a:tc>
                  <a:txBody>
                    <a:bodyPr/>
                    <a:lstStyle/>
                    <a:p>
                      <a:pPr algn="ctr">
                        <a:defRPr sz="1000"/>
                      </a:pPr>
                      <a:r>
                        <a:t>0.000</a:t>
                      </a:r>
                    </a:p>
                  </a:txBody>
                  <a:tcPr/>
                </a:tc>
                <a:tc>
                  <a:txBody>
                    <a:bodyPr/>
                    <a:lstStyle/>
                    <a:p>
                      <a:pPr algn="ctr">
                        <a:defRPr sz="1000"/>
                      </a:pPr>
                      <a:r>
                        <a:t>0.000</a:t>
                      </a:r>
                    </a:p>
                  </a:txBody>
                  <a:tcPr/>
                </a:tc>
                <a:tc>
                  <a:txBody>
                    <a:bodyPr/>
                    <a:lstStyle/>
                    <a:p>
                      <a:pPr algn="ctr">
                        <a:defRPr sz="1000"/>
                      </a:pPr>
                      <a:r>
                        <a:t>0.000</a:t>
                      </a:r>
                    </a:p>
                  </a:txBody>
                  <a:tcPr/>
                </a:tc>
              </a:tr>
              <a:tr h="587828">
                <a:tc>
                  <a:txBody>
                    <a:bodyPr/>
                    <a:lstStyle/>
                    <a:p>
                      <a:pPr algn="ctr">
                        <a:defRPr sz="1000"/>
                      </a:pPr>
                      <a:r>
                        <a:t>E2</a:t>
                      </a:r>
                    </a:p>
                  </a:txBody>
                  <a:tcPr/>
                </a:tc>
                <a:tc>
                  <a:txBody>
                    <a:bodyPr/>
                    <a:lstStyle/>
                    <a:p>
                      <a:pPr algn="ctr">
                        <a:defRPr sz="1000"/>
                      </a:pPr>
                      <a:r>
                        <a:t>ResNet50</a:t>
                      </a:r>
                    </a:p>
                  </a:txBody>
                  <a:tcPr/>
                </a:tc>
                <a:tc>
                  <a:txBody>
                    <a:bodyPr/>
                    <a:lstStyle/>
                    <a:p>
                      <a:pPr algn="ctr">
                        <a:defRPr sz="1000"/>
                      </a:pPr>
                      <a:r>
                        <a:t>random</a:t>
                      </a:r>
                    </a:p>
                  </a:txBody>
                  <a:tcPr/>
                </a:tc>
                <a:tc>
                  <a:txBody>
                    <a:bodyPr/>
                    <a:lstStyle/>
                    <a:p>
                      <a:pPr algn="ctr">
                        <a:defRPr sz="1000"/>
                      </a:pPr>
                      <a:r>
                        <a:t>0.936</a:t>
                      </a:r>
                    </a:p>
                  </a:txBody>
                  <a:tcPr/>
                </a:tc>
                <a:tc>
                  <a:txBody>
                    <a:bodyPr/>
                    <a:lstStyle/>
                    <a:p>
                      <a:pPr algn="ctr">
                        <a:defRPr sz="1000"/>
                      </a:pPr>
                      <a:r>
                        <a:t>0.936</a:t>
                      </a:r>
                    </a:p>
                  </a:txBody>
                  <a:tcPr/>
                </a:tc>
                <a:tc>
                  <a:txBody>
                    <a:bodyPr/>
                    <a:lstStyle/>
                    <a:p>
                      <a:pPr algn="ctr">
                        <a:defRPr sz="1000"/>
                      </a:pPr>
                      <a:r>
                        <a:t>0.936</a:t>
                      </a:r>
                    </a:p>
                  </a:txBody>
                  <a:tcPr/>
                </a:tc>
                <a:tc>
                  <a:txBody>
                    <a:bodyPr/>
                    <a:lstStyle/>
                    <a:p>
                      <a:pPr algn="ctr">
                        <a:defRPr sz="1000"/>
                      </a:pPr>
                      <a:r>
                        <a:t>0.936</a:t>
                      </a:r>
                    </a:p>
                  </a:txBody>
                  <a:tcPr/>
                </a:tc>
              </a:tr>
              <a:tr h="587828">
                <a:tc>
                  <a:txBody>
                    <a:bodyPr/>
                    <a:lstStyle/>
                    <a:p>
                      <a:pPr algn="ctr">
                        <a:defRPr sz="1000"/>
                      </a:pPr>
                      <a:r>
                        <a:t>E3</a:t>
                      </a:r>
                    </a:p>
                  </a:txBody>
                  <a:tcPr/>
                </a:tc>
                <a:tc>
                  <a:txBody>
                    <a:bodyPr/>
                    <a:lstStyle/>
                    <a:p>
                      <a:pPr algn="ctr">
                        <a:defRPr sz="1000"/>
                      </a:pPr>
                      <a:r>
                        <a:t>MobileNetV2</a:t>
                      </a:r>
                    </a:p>
                  </a:txBody>
                  <a:tcPr/>
                </a:tc>
                <a:tc>
                  <a:txBody>
                    <a:bodyPr/>
                    <a:lstStyle/>
                    <a:p>
                      <a:pPr algn="ctr">
                        <a:defRPr sz="1000"/>
                      </a:pPr>
                      <a:r>
                        <a:t>random</a:t>
                      </a:r>
                    </a:p>
                  </a:txBody>
                  <a:tcPr/>
                </a:tc>
                <a:tc>
                  <a:txBody>
                    <a:bodyPr/>
                    <a:lstStyle/>
                    <a:p>
                      <a:pPr algn="ctr">
                        <a:defRPr sz="1000"/>
                      </a:pPr>
                      <a:r>
                        <a:t>0.824</a:t>
                      </a:r>
                    </a:p>
                  </a:txBody>
                  <a:tcPr/>
                </a:tc>
                <a:tc>
                  <a:txBody>
                    <a:bodyPr/>
                    <a:lstStyle/>
                    <a:p>
                      <a:pPr algn="ctr">
                        <a:defRPr sz="1000"/>
                      </a:pPr>
                      <a:r>
                        <a:t>0.815</a:t>
                      </a:r>
                    </a:p>
                  </a:txBody>
                  <a:tcPr/>
                </a:tc>
                <a:tc>
                  <a:txBody>
                    <a:bodyPr/>
                    <a:lstStyle/>
                    <a:p>
                      <a:pPr algn="ctr">
                        <a:defRPr sz="1000"/>
                      </a:pPr>
                      <a:r>
                        <a:t>0.841</a:t>
                      </a:r>
                    </a:p>
                  </a:txBody>
                  <a:tcPr/>
                </a:tc>
                <a:tc>
                  <a:txBody>
                    <a:bodyPr/>
                    <a:lstStyle/>
                    <a:p>
                      <a:pPr algn="ctr">
                        <a:defRPr sz="1000"/>
                      </a:pPr>
                      <a:r>
                        <a:t>0.828</a:t>
                      </a:r>
                    </a:p>
                  </a:txBody>
                  <a:tcPr/>
                </a:tc>
              </a:tr>
              <a:tr h="587828">
                <a:tc>
                  <a:txBody>
                    <a:bodyPr/>
                    <a:lstStyle/>
                    <a:p>
                      <a:pPr algn="ctr">
                        <a:defRPr sz="1000"/>
                      </a:pPr>
                      <a:r>
                        <a:t>E4</a:t>
                      </a:r>
                    </a:p>
                  </a:txBody>
                  <a:tcPr/>
                </a:tc>
                <a:tc>
                  <a:txBody>
                    <a:bodyPr/>
                    <a:lstStyle/>
                    <a:p>
                      <a:pPr algn="ctr">
                        <a:defRPr sz="1000"/>
                      </a:pPr>
                      <a:r>
                        <a:t>CustomCNN</a:t>
                      </a:r>
                    </a:p>
                  </a:txBody>
                  <a:tcPr/>
                </a:tc>
                <a:tc>
                  <a:txBody>
                    <a:bodyPr/>
                    <a:lstStyle/>
                    <a:p>
                      <a:pPr algn="ctr">
                        <a:defRPr sz="1000"/>
                      </a:pPr>
                      <a:r>
                        <a:t>subject</a:t>
                      </a:r>
                    </a:p>
                  </a:txBody>
                  <a:tcPr/>
                </a:tc>
                <a:tc>
                  <a:txBody>
                    <a:bodyPr/>
                    <a:lstStyle/>
                    <a:p>
                      <a:pPr algn="ctr">
                        <a:defRPr sz="1000"/>
                      </a:pPr>
                      <a:r>
                        <a:t>0.658</a:t>
                      </a:r>
                    </a:p>
                  </a:txBody>
                  <a:tcPr/>
                </a:tc>
                <a:tc>
                  <a:txBody>
                    <a:bodyPr/>
                    <a:lstStyle/>
                    <a:p>
                      <a:pPr algn="ctr">
                        <a:defRPr sz="1000"/>
                      </a:pPr>
                      <a:r>
                        <a:t>0.658</a:t>
                      </a:r>
                    </a:p>
                  </a:txBody>
                  <a:tcPr/>
                </a:tc>
                <a:tc>
                  <a:txBody>
                    <a:bodyPr/>
                    <a:lstStyle/>
                    <a:p>
                      <a:pPr algn="ctr">
                        <a:defRPr sz="1000"/>
                      </a:pPr>
                      <a:r>
                        <a:t>1.000</a:t>
                      </a:r>
                    </a:p>
                  </a:txBody>
                  <a:tcPr/>
                </a:tc>
                <a:tc>
                  <a:txBody>
                    <a:bodyPr/>
                    <a:lstStyle/>
                    <a:p>
                      <a:pPr algn="ctr">
                        <a:defRPr sz="1000"/>
                      </a:pPr>
                      <a:r>
                        <a:t>0.793</a:t>
                      </a:r>
                    </a:p>
                  </a:txBody>
                  <a:tcPr/>
                </a:tc>
              </a:tr>
              <a:tr h="587828">
                <a:tc>
                  <a:txBody>
                    <a:bodyPr/>
                    <a:lstStyle/>
                    <a:p>
                      <a:pPr algn="ctr">
                        <a:defRPr sz="1000"/>
                      </a:pPr>
                      <a:r>
                        <a:t>E5</a:t>
                      </a:r>
                    </a:p>
                  </a:txBody>
                  <a:tcPr/>
                </a:tc>
                <a:tc>
                  <a:txBody>
                    <a:bodyPr/>
                    <a:lstStyle/>
                    <a:p>
                      <a:pPr algn="ctr">
                        <a:defRPr sz="1000"/>
                      </a:pPr>
                      <a:r>
                        <a:t>ResNet50</a:t>
                      </a:r>
                    </a:p>
                  </a:txBody>
                  <a:tcPr/>
                </a:tc>
                <a:tc>
                  <a:txBody>
                    <a:bodyPr/>
                    <a:lstStyle/>
                    <a:p>
                      <a:pPr algn="ctr">
                        <a:defRPr sz="1000"/>
                      </a:pPr>
                      <a:r>
                        <a:t>subject</a:t>
                      </a:r>
                    </a:p>
                  </a:txBody>
                  <a:tcPr/>
                </a:tc>
                <a:tc>
                  <a:txBody>
                    <a:bodyPr/>
                    <a:lstStyle/>
                    <a:p>
                      <a:pPr algn="ctr">
                        <a:defRPr sz="1000"/>
                      </a:pPr>
                      <a:r>
                        <a:t>0.469</a:t>
                      </a:r>
                    </a:p>
                  </a:txBody>
                  <a:tcPr/>
                </a:tc>
                <a:tc>
                  <a:txBody>
                    <a:bodyPr/>
                    <a:lstStyle/>
                    <a:p>
                      <a:pPr algn="ctr">
                        <a:defRPr sz="1000"/>
                      </a:pPr>
                      <a:r>
                        <a:t>0.625</a:t>
                      </a:r>
                    </a:p>
                  </a:txBody>
                  <a:tcPr/>
                </a:tc>
                <a:tc>
                  <a:txBody>
                    <a:bodyPr/>
                    <a:lstStyle/>
                    <a:p>
                      <a:pPr algn="ctr">
                        <a:defRPr sz="1000"/>
                      </a:pPr>
                      <a:r>
                        <a:t>0.479</a:t>
                      </a:r>
                    </a:p>
                  </a:txBody>
                  <a:tcPr/>
                </a:tc>
                <a:tc>
                  <a:txBody>
                    <a:bodyPr/>
                    <a:lstStyle/>
                    <a:p>
                      <a:pPr algn="ctr">
                        <a:defRPr sz="1000"/>
                      </a:pPr>
                      <a:r>
                        <a:t>0.543</a:t>
                      </a:r>
                    </a:p>
                  </a:txBody>
                  <a:tcPr/>
                </a:tc>
              </a:tr>
              <a:tr h="587832">
                <a:tc>
                  <a:txBody>
                    <a:bodyPr/>
                    <a:lstStyle/>
                    <a:p>
                      <a:pPr algn="ctr">
                        <a:defRPr sz="1000"/>
                      </a:pPr>
                      <a:r>
                        <a:t>E6</a:t>
                      </a:r>
                    </a:p>
                  </a:txBody>
                  <a:tcPr/>
                </a:tc>
                <a:tc>
                  <a:txBody>
                    <a:bodyPr/>
                    <a:lstStyle/>
                    <a:p>
                      <a:pPr algn="ctr">
                        <a:defRPr sz="1000"/>
                      </a:pPr>
                      <a:r>
                        <a:t>MobileNetV2</a:t>
                      </a:r>
                    </a:p>
                  </a:txBody>
                  <a:tcPr/>
                </a:tc>
                <a:tc>
                  <a:txBody>
                    <a:bodyPr/>
                    <a:lstStyle/>
                    <a:p>
                      <a:pPr algn="ctr">
                        <a:defRPr sz="1000"/>
                      </a:pPr>
                      <a:r>
                        <a:t>subject</a:t>
                      </a:r>
                    </a:p>
                  </a:txBody>
                  <a:tcPr/>
                </a:tc>
                <a:tc>
                  <a:txBody>
                    <a:bodyPr/>
                    <a:lstStyle/>
                    <a:p>
                      <a:pPr algn="ctr">
                        <a:defRPr sz="1000"/>
                      </a:pPr>
                      <a:r>
                        <a:t>0.378</a:t>
                      </a:r>
                    </a:p>
                  </a:txBody>
                  <a:tcPr/>
                </a:tc>
                <a:tc>
                  <a:txBody>
                    <a:bodyPr/>
                    <a:lstStyle/>
                    <a:p>
                      <a:pPr algn="ctr">
                        <a:defRPr sz="1000"/>
                      </a:pPr>
                      <a:r>
                        <a:t>0.540</a:t>
                      </a:r>
                    </a:p>
                  </a:txBody>
                  <a:tcPr/>
                </a:tc>
                <a:tc>
                  <a:txBody>
                    <a:bodyPr/>
                    <a:lstStyle/>
                    <a:p>
                      <a:pPr algn="ctr">
                        <a:defRPr sz="1000"/>
                      </a:pPr>
                      <a:r>
                        <a:t>0.370</a:t>
                      </a:r>
                    </a:p>
                  </a:txBody>
                  <a:tcPr/>
                </a:tc>
                <a:tc>
                  <a:txBody>
                    <a:bodyPr/>
                    <a:lstStyle/>
                    <a:p>
                      <a:pPr algn="ctr">
                        <a:defRPr sz="1000"/>
                      </a:pPr>
                      <a:r>
                        <a:t>0.439</a:t>
                      </a:r>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12</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Kết quả cốt lõi: chênh lệch giữa hai giao thức</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Cùng mô hình · cùng siêu tham số · cùng seed · cùng phần cứng — chỉ khác cách chia dữ liệu</a:t>
            </a:r>
            <a:endParaRPr lang="en-US" sz="1400" dirty="0"/>
          </a:p>
        </p:txBody>
      </p:sp>
      <p:sp>
        <p:nvSpPr>
          <p:cNvPr id="6" name="Shape 3"/>
          <p:cNvSpPr/>
          <p:nvPr/>
        </p:nvSpPr>
        <p:spPr>
          <a:xfrm>
            <a:off x="594360" y="1824228"/>
            <a:ext cx="7680960" cy="2834640"/>
          </a:xfrm>
          <a:prstGeom prst="roundRect">
            <a:avLst>
              <a:gd name="adj" fmla="val 2581"/>
            </a:avLst>
          </a:prstGeom>
          <a:solidFill>
            <a:srgbClr val="EEF2F7"/>
          </a:solidFill>
          <a:ln w="15875">
            <a:solidFill>
              <a:srgbClr val="C3CEDC"/>
            </a:solidFill>
            <a:prstDash val="dash"/>
          </a:ln>
        </p:spPr>
        <p:txBody>
          <a:bodyPr/>
          <a:p/>
        </p:txBody>
      </p:sp>
      <p:sp>
        <p:nvSpPr>
          <p:cNvPr id="7" name="Text 4"/>
          <p:cNvSpPr/>
          <p:nvPr/>
        </p:nvSpPr>
        <p:spPr>
          <a:xfrm>
            <a:off x="777240" y="1824228"/>
            <a:ext cx="7315200" cy="2834640"/>
          </a:xfrm>
          <a:prstGeom prst="rect">
            <a:avLst/>
          </a:prstGeom>
          <a:noFill/>
          <a:ln/>
        </p:spPr>
        <p:txBody>
          <a:bodyPr wrap="square" lIns="0" tIns="0" rIns="0" bIns="0" rtlCol="0" anchor="ctr"/>
          <a:lstStyle/>
          <a:p/>
        </p:txBody>
      </p:sp>
      <p:sp>
        <p:nvSpPr>
          <p:cNvPr id="8" name="Text 5"/>
          <p:cNvSpPr/>
          <p:nvPr/>
        </p:nvSpPr>
        <p:spPr>
          <a:xfrm>
            <a:off x="8595360" y="1872234"/>
            <a:ext cx="2999232" cy="274320"/>
          </a:xfrm>
          <a:prstGeom prst="rect">
            <a:avLst/>
          </a:prstGeom>
          <a:noFill/>
          <a:ln/>
        </p:spPr>
        <p:txBody>
          <a:bodyPr wrap="square" lIns="0" tIns="0" rIns="0" bIns="0" rtlCol="0" anchor="ctr"/>
          <a:lstStyle/>
          <a:p>
            <a:pPr indent="0" marL="0">
              <a:buNone/>
            </a:pPr>
            <a:r>
              <a:rPr lang="en-US" sz="1300" b="1" dirty="0">
                <a:solidFill>
                  <a:srgbClr val="6B7A90"/>
                </a:solidFill>
                <a:latin typeface="Calibri" pitchFamily="34" charset="0"/>
                <a:ea typeface="Calibri" pitchFamily="34" charset="-122"/>
                <a:cs typeface="Calibri" pitchFamily="34" charset="-120"/>
              </a:rPr>
              <a:t>Chênh lệch Accuracy</a:t>
            </a:r>
            <a:endParaRPr lang="en-US" sz="1300" dirty="0"/>
          </a:p>
        </p:txBody>
      </p:sp>
      <p:sp>
        <p:nvSpPr>
          <p:cNvPr id="9" name="Shape 6"/>
          <p:cNvSpPr/>
          <p:nvPr/>
        </p:nvSpPr>
        <p:spPr>
          <a:xfrm>
            <a:off x="8595360" y="2256282"/>
            <a:ext cx="2999232" cy="777240"/>
          </a:xfrm>
          <a:prstGeom prst="roundRect">
            <a:avLst>
              <a:gd name="adj" fmla="val 10588"/>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txBody>
          <a:bodyPr/>
          <a:p/>
        </p:txBody>
      </p:sp>
      <p:sp>
        <p:nvSpPr>
          <p:cNvPr id="10" name="Text 7"/>
          <p:cNvSpPr/>
          <p:nvPr/>
        </p:nvSpPr>
        <p:spPr>
          <a:xfrm>
            <a:off x="8851392" y="2352294"/>
            <a:ext cx="2487168" cy="256032"/>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CNN tự thiết kế</a:t>
            </a:r>
            <a:endParaRPr lang="en-US" sz="1150" dirty="0"/>
          </a:p>
        </p:txBody>
      </p:sp>
      <p:sp>
        <p:nvSpPr>
          <p:cNvPr id="11" name="Text 8"/>
          <p:cNvSpPr/>
          <p:nvPr/>
        </p:nvSpPr>
        <p:spPr>
          <a:xfrm>
            <a:off x="8851392" y="2601925"/>
            <a:ext cx="2487168" cy="411480"/>
          </a:xfrm>
          <a:prstGeom prst="rect">
            <a:avLst/>
          </a:prstGeom>
          <a:noFill/>
          <a:ln/>
        </p:spPr>
        <p:txBody>
          <a:bodyPr wrap="square" lIns="0" tIns="0" rIns="0" bIns="0" rtlCol="0" anchor="ctr"/>
          <a:lstStyle/>
          <a:p>
            <a:pPr indent="0" marL="0">
              <a:buNone/>
            </a:pPr>
            <a:r>
              <a:rPr lang="en-US" sz="2500" b="1" dirty="0">
                <a:solidFill>
                  <a:srgbClr val="C6444A"/>
                </a:solidFill>
                <a:latin typeface="Cambria" pitchFamily="34" charset="0"/>
                <a:ea typeface="Cambria" pitchFamily="34" charset="-122"/>
                <a:cs typeface="Cambria" pitchFamily="34" charset="-120"/>
              </a:rPr>
              <a:t>[…]</a:t>
            </a:r>
            <a:endParaRPr lang="en-US" sz="2500" dirty="0"/>
          </a:p>
        </p:txBody>
      </p:sp>
      <p:sp>
        <p:nvSpPr>
          <p:cNvPr id="12" name="Shape 9"/>
          <p:cNvSpPr/>
          <p:nvPr/>
        </p:nvSpPr>
        <p:spPr>
          <a:xfrm>
            <a:off x="8595360" y="3168396"/>
            <a:ext cx="2999232" cy="777240"/>
          </a:xfrm>
          <a:prstGeom prst="roundRect">
            <a:avLst>
              <a:gd name="adj" fmla="val 10588"/>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txBody>
          <a:bodyPr/>
          <a:p/>
        </p:txBody>
      </p:sp>
      <p:sp>
        <p:nvSpPr>
          <p:cNvPr id="13" name="Text 10"/>
          <p:cNvSpPr/>
          <p:nvPr/>
        </p:nvSpPr>
        <p:spPr>
          <a:xfrm>
            <a:off x="8851392" y="3264408"/>
            <a:ext cx="2487168" cy="256032"/>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ResNet50</a:t>
            </a:r>
            <a:endParaRPr lang="en-US" sz="1150" dirty="0"/>
          </a:p>
        </p:txBody>
      </p:sp>
      <p:sp>
        <p:nvSpPr>
          <p:cNvPr id="14" name="Text 11"/>
          <p:cNvSpPr/>
          <p:nvPr/>
        </p:nvSpPr>
        <p:spPr>
          <a:xfrm>
            <a:off x="8851392" y="3514039"/>
            <a:ext cx="2487168" cy="411480"/>
          </a:xfrm>
          <a:prstGeom prst="rect">
            <a:avLst/>
          </a:prstGeom>
          <a:noFill/>
          <a:ln/>
        </p:spPr>
        <p:txBody>
          <a:bodyPr wrap="square" lIns="0" tIns="0" rIns="0" bIns="0" rtlCol="0" anchor="ctr"/>
          <a:lstStyle/>
          <a:p>
            <a:pPr indent="0" marL="0">
              <a:buNone/>
            </a:pPr>
            <a:r>
              <a:rPr lang="en-US" sz="2500" b="1" dirty="0">
                <a:solidFill>
                  <a:srgbClr val="C6444A"/>
                </a:solidFill>
                <a:latin typeface="Cambria" pitchFamily="34" charset="0"/>
                <a:ea typeface="Cambria" pitchFamily="34" charset="-122"/>
                <a:cs typeface="Cambria" pitchFamily="34" charset="-120"/>
              </a:rPr>
              <a:t>[…]</a:t>
            </a:r>
            <a:endParaRPr lang="en-US" sz="2500" dirty="0"/>
          </a:p>
        </p:txBody>
      </p:sp>
      <p:sp>
        <p:nvSpPr>
          <p:cNvPr id="15" name="Shape 12"/>
          <p:cNvSpPr/>
          <p:nvPr/>
        </p:nvSpPr>
        <p:spPr>
          <a:xfrm>
            <a:off x="8595360" y="4080510"/>
            <a:ext cx="2999232" cy="777240"/>
          </a:xfrm>
          <a:prstGeom prst="roundRect">
            <a:avLst>
              <a:gd name="adj" fmla="val 10588"/>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txBody>
          <a:bodyPr/>
          <a:p/>
        </p:txBody>
      </p:sp>
      <p:sp>
        <p:nvSpPr>
          <p:cNvPr id="16" name="Text 13"/>
          <p:cNvSpPr/>
          <p:nvPr/>
        </p:nvSpPr>
        <p:spPr>
          <a:xfrm>
            <a:off x="8851392" y="4176522"/>
            <a:ext cx="2487168" cy="256032"/>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MobileNetV2</a:t>
            </a:r>
            <a:endParaRPr lang="en-US" sz="1150" dirty="0"/>
          </a:p>
        </p:txBody>
      </p:sp>
      <p:sp>
        <p:nvSpPr>
          <p:cNvPr id="17" name="Text 14"/>
          <p:cNvSpPr/>
          <p:nvPr/>
        </p:nvSpPr>
        <p:spPr>
          <a:xfrm>
            <a:off x="8851392" y="4426153"/>
            <a:ext cx="2487168" cy="411480"/>
          </a:xfrm>
          <a:prstGeom prst="rect">
            <a:avLst/>
          </a:prstGeom>
          <a:noFill/>
          <a:ln/>
        </p:spPr>
        <p:txBody>
          <a:bodyPr wrap="square" lIns="0" tIns="0" rIns="0" bIns="0" rtlCol="0" anchor="ctr"/>
          <a:lstStyle/>
          <a:p>
            <a:pPr indent="0" marL="0">
              <a:buNone/>
            </a:pPr>
            <a:r>
              <a:rPr lang="en-US" sz="2500" b="1" dirty="0">
                <a:solidFill>
                  <a:srgbClr val="C6444A"/>
                </a:solidFill>
                <a:latin typeface="Cambria" pitchFamily="34" charset="0"/>
                <a:ea typeface="Cambria" pitchFamily="34" charset="-122"/>
                <a:cs typeface="Cambria" pitchFamily="34" charset="-120"/>
              </a:rPr>
              <a:t>[…]</a:t>
            </a:r>
            <a:endParaRPr lang="en-US" sz="2500" dirty="0"/>
          </a:p>
        </p:txBody>
      </p:sp>
      <p:sp>
        <p:nvSpPr>
          <p:cNvPr id="18" name="Shape 15"/>
          <p:cNvSpPr/>
          <p:nvPr/>
        </p:nvSpPr>
        <p:spPr>
          <a:xfrm>
            <a:off x="594360" y="5040630"/>
            <a:ext cx="11000232" cy="1051560"/>
          </a:xfrm>
          <a:prstGeom prst="roundRect">
            <a:avLst>
              <a:gd name="adj" fmla="val 7826"/>
            </a:avLst>
          </a:prstGeom>
          <a:solidFill>
            <a:srgbClr val="E8F4F4"/>
          </a:solidFill>
          <a:ln w="12700">
            <a:solidFill>
              <a:srgbClr val="E8F4F4"/>
            </a:solidFill>
            <a:prstDash val="solid"/>
          </a:ln>
          <a:effectLst>
            <a:outerShdw sx="100000" sy="100000" kx="0" ky="0" algn="bl" rotWithShape="0" blurRad="127000" dist="25400" dir="5400000">
              <a:srgbClr val="9AA8BC">
                <a:alpha val="10000"/>
              </a:srgbClr>
            </a:outerShdw>
          </a:effectLst>
        </p:spPr>
        <p:txBody>
          <a:bodyPr/>
          <a:p/>
        </p:txBody>
      </p:sp>
      <p:sp>
        <p:nvSpPr>
          <p:cNvPr id="19" name="Text 16"/>
          <p:cNvSpPr/>
          <p:nvPr/>
        </p:nvSpPr>
        <p:spPr>
          <a:xfrm>
            <a:off x="978408" y="5194249"/>
            <a:ext cx="2743200" cy="274320"/>
          </a:xfrm>
          <a:prstGeom prst="rect">
            <a:avLst/>
          </a:prstGeom>
          <a:noFill/>
          <a:ln/>
        </p:spPr>
        <p:txBody>
          <a:bodyPr wrap="square" lIns="0" tIns="0" rIns="0" bIns="0" rtlCol="0" anchor="ctr"/>
          <a:lstStyle/>
          <a:p>
            <a:pPr indent="0" marL="0">
              <a:buNone/>
            </a:pPr>
            <a:r>
              <a:rPr lang="en-US" sz="1350" b="1" dirty="0">
                <a:solidFill>
                  <a:srgbClr val="1F6363"/>
                </a:solidFill>
                <a:latin typeface="Calibri" pitchFamily="34" charset="0"/>
                <a:ea typeface="Calibri" pitchFamily="34" charset="-122"/>
                <a:cs typeface="Calibri" pitchFamily="34" charset="-120"/>
              </a:rPr>
              <a:t>Kết luận rút ra</a:t>
            </a:r>
            <a:endParaRPr lang="en-US" sz="1350" dirty="0"/>
          </a:p>
        </p:txBody>
      </p:sp>
      <p:sp>
        <p:nvSpPr>
          <p:cNvPr id="20" name="Text 17"/>
          <p:cNvSpPr/>
          <p:nvPr/>
        </p:nvSpPr>
        <p:spPr>
          <a:xfrm>
            <a:off x="978408" y="5482285"/>
            <a:ext cx="10232136" cy="548640"/>
          </a:xfrm>
          <a:prstGeom prst="rect">
            <a:avLst/>
          </a:prstGeom>
          <a:noFill/>
          <a:ln/>
        </p:spPr>
        <p:txBody>
          <a:bodyPr wrap="square" lIns="0" tIns="0" rIns="0" bIns="0" rtlCol="0" anchor="ctr"/>
          <a:lstStyle/>
          <a:p>
            <a:pPr indent="0" marL="0">
              <a:lnSpc>
                <a:spcPts val="1800"/>
              </a:lnSpc>
              <a:buNone/>
            </a:pPr>
            <a:r>
              <a:rPr lang="en-US" sz="1250" dirty="0">
                <a:solidFill>
                  <a:srgbClr val="1F5555"/>
                </a:solidFill>
                <a:latin typeface="Calibri" pitchFamily="34" charset="0"/>
                <a:ea typeface="Calibri" pitchFamily="34" charset="-122"/>
                <a:cs typeface="Calibri" pitchFamily="34" charset="-120"/>
              </a:rPr>
              <a:t>Chênh lệch dương xác nhận giao thức chia ngẫu nhiên đã thổi phồng kết quả. Con số thấp hơn ở giao thức B không phản ánh mô hình kém hơn — nó phản ánh một phép đo trung thực hơn trên bài toán thực chất khó hơn.</a:t>
            </a:r>
            <a:endParaRPr lang="en-US" sz="1250" dirty="0"/>
          </a:p>
        </p:txBody>
      </p:sp>
      <p:pic>
        <p:nvPicPr>
          <p:cNvPr id="21" name="Picture 20" descr="hinh05_so_sanh_giao_thuc.png"/>
          <p:cNvPicPr>
            <a:picLocks noChangeAspect="1"/>
          </p:cNvPicPr>
          <p:nvPr/>
        </p:nvPicPr>
        <p:blipFill>
          <a:blip r:embed="rId3"/>
          <a:stretch>
            <a:fillRect/>
          </a:stretch>
        </p:blipFill>
        <p:spPr>
          <a:xfrm>
            <a:off x="411480" y="1417320"/>
            <a:ext cx="7589520" cy="25182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13</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Phân tích ma trận nhầm lẫn</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So sánh cấu trúc lỗi giữa hai giao thức</a:t>
            </a:r>
            <a:endParaRPr lang="en-US" sz="1400" dirty="0"/>
          </a:p>
        </p:txBody>
      </p:sp>
      <p:sp>
        <p:nvSpPr>
          <p:cNvPr id="6" name="Shape 3"/>
          <p:cNvSpPr/>
          <p:nvPr/>
        </p:nvSpPr>
        <p:spPr>
          <a:xfrm>
            <a:off x="594360" y="1824228"/>
            <a:ext cx="5271516" cy="2606040"/>
          </a:xfrm>
          <a:prstGeom prst="roundRect">
            <a:avLst>
              <a:gd name="adj" fmla="val 2807"/>
            </a:avLst>
          </a:prstGeom>
          <a:solidFill>
            <a:srgbClr val="EEF2F7"/>
          </a:solidFill>
          <a:ln w="15875">
            <a:solidFill>
              <a:srgbClr val="C3CEDC"/>
            </a:solidFill>
            <a:prstDash val="dash"/>
          </a:ln>
        </p:spPr>
        <p:txBody>
          <a:bodyPr/>
          <a:p/>
        </p:txBody>
      </p:sp>
      <p:sp>
        <p:nvSpPr>
          <p:cNvPr id="7" name="Text 4"/>
          <p:cNvSpPr/>
          <p:nvPr/>
        </p:nvSpPr>
        <p:spPr>
          <a:xfrm>
            <a:off x="777240" y="1824228"/>
            <a:ext cx="4905756" cy="2606040"/>
          </a:xfrm>
          <a:prstGeom prst="rect">
            <a:avLst/>
          </a:prstGeom>
          <a:noFill/>
          <a:ln/>
        </p:spPr>
        <p:txBody>
          <a:bodyPr wrap="square" lIns="0" tIns="0" rIns="0" bIns="0" rtlCol="0" anchor="ctr"/>
          <a:lstStyle/>
          <a:p/>
        </p:txBody>
      </p:sp>
      <p:sp>
        <p:nvSpPr>
          <p:cNvPr id="8" name="Shape 5"/>
          <p:cNvSpPr/>
          <p:nvPr/>
        </p:nvSpPr>
        <p:spPr>
          <a:xfrm>
            <a:off x="6323076" y="1824228"/>
            <a:ext cx="5271516" cy="2606040"/>
          </a:xfrm>
          <a:prstGeom prst="roundRect">
            <a:avLst>
              <a:gd name="adj" fmla="val 2807"/>
            </a:avLst>
          </a:prstGeom>
          <a:solidFill>
            <a:srgbClr val="EEF2F7"/>
          </a:solidFill>
          <a:ln w="15875">
            <a:solidFill>
              <a:srgbClr val="C3CEDC"/>
            </a:solidFill>
            <a:prstDash val="dash"/>
          </a:ln>
        </p:spPr>
        <p:txBody>
          <a:bodyPr/>
          <a:p/>
        </p:txBody>
      </p:sp>
      <p:sp>
        <p:nvSpPr>
          <p:cNvPr id="9" name="Text 6"/>
          <p:cNvSpPr/>
          <p:nvPr/>
        </p:nvSpPr>
        <p:spPr>
          <a:xfrm>
            <a:off x="6505956" y="1824228"/>
            <a:ext cx="4905756" cy="2606040"/>
          </a:xfrm>
          <a:prstGeom prst="rect">
            <a:avLst/>
          </a:prstGeom>
          <a:noFill/>
          <a:ln/>
        </p:spPr>
        <p:txBody>
          <a:bodyPr wrap="square" lIns="0" tIns="0" rIns="0" bIns="0" rtlCol="0" anchor="ctr"/>
          <a:lstStyle/>
          <a:p/>
        </p:txBody>
      </p:sp>
      <p:sp>
        <p:nvSpPr>
          <p:cNvPr id="10" name="Text 7"/>
          <p:cNvSpPr/>
          <p:nvPr/>
        </p:nvSpPr>
        <p:spPr>
          <a:xfrm>
            <a:off x="594360" y="4704588"/>
            <a:ext cx="5271516" cy="292608"/>
          </a:xfrm>
          <a:prstGeom prst="rect">
            <a:avLst/>
          </a:prstGeom>
          <a:noFill/>
          <a:ln/>
        </p:spPr>
        <p:txBody>
          <a:bodyPr wrap="square" lIns="0" tIns="0" rIns="0" bIns="0" rtlCol="0" anchor="ctr"/>
          <a:lstStyle/>
          <a:p>
            <a:pPr algn="ctr" indent="0" marL="0">
              <a:buNone/>
            </a:pPr>
            <a:r>
              <a:rPr lang="en-US" sz="1300" b="1" dirty="0">
                <a:solidFill>
                  <a:srgbClr val="C6444A"/>
                </a:solidFill>
                <a:latin typeface="Calibri" pitchFamily="34" charset="0"/>
                <a:ea typeface="Calibri" pitchFamily="34" charset="-122"/>
                <a:cs typeface="Calibri" pitchFamily="34" charset="-120"/>
              </a:rPr>
              <a:t>E2 — ResNet50, giao thức A (ngẫu nhiên)</a:t>
            </a:r>
            <a:endParaRPr lang="en-US" sz="1300" dirty="0"/>
          </a:p>
        </p:txBody>
      </p:sp>
      <p:sp>
        <p:nvSpPr>
          <p:cNvPr id="11" name="Text 8"/>
          <p:cNvSpPr/>
          <p:nvPr/>
        </p:nvSpPr>
        <p:spPr>
          <a:xfrm>
            <a:off x="6323076" y="4704588"/>
            <a:ext cx="5271516" cy="292608"/>
          </a:xfrm>
          <a:prstGeom prst="rect">
            <a:avLst/>
          </a:prstGeom>
          <a:noFill/>
          <a:ln/>
        </p:spPr>
        <p:txBody>
          <a:bodyPr wrap="square" lIns="0" tIns="0" rIns="0" bIns="0" rtlCol="0" anchor="ctr"/>
          <a:lstStyle/>
          <a:p>
            <a:pPr algn="ctr" indent="0" marL="0">
              <a:buNone/>
            </a:pPr>
            <a:r>
              <a:rPr lang="en-US" sz="1300" b="1" dirty="0">
                <a:solidFill>
                  <a:srgbClr val="2E8B8B"/>
                </a:solidFill>
                <a:latin typeface="Calibri" pitchFamily="34" charset="0"/>
                <a:ea typeface="Calibri" pitchFamily="34" charset="-122"/>
                <a:cs typeface="Calibri" pitchFamily="34" charset="-120"/>
              </a:rPr>
              <a:t>E5 — ResNet50, giao thức B (theo người)</a:t>
            </a:r>
            <a:endParaRPr lang="en-US" sz="1300" dirty="0"/>
          </a:p>
        </p:txBody>
      </p:sp>
      <p:sp>
        <p:nvSpPr>
          <p:cNvPr id="12" name="Shape 9"/>
          <p:cNvSpPr/>
          <p:nvPr/>
        </p:nvSpPr>
        <p:spPr>
          <a:xfrm>
            <a:off x="594360" y="5376672"/>
            <a:ext cx="11000232" cy="822960"/>
          </a:xfrm>
          <a:prstGeom prst="roundRect">
            <a:avLst>
              <a:gd name="adj" fmla="val 10000"/>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txBody>
          <a:bodyPr/>
          <a:p/>
        </p:txBody>
      </p:sp>
      <p:sp>
        <p:nvSpPr>
          <p:cNvPr id="13" name="Text 10"/>
          <p:cNvSpPr/>
          <p:nvPr/>
        </p:nvSpPr>
        <p:spPr>
          <a:xfrm>
            <a:off x="978408" y="5597500"/>
            <a:ext cx="10232136" cy="548640"/>
          </a:xfrm>
          <a:prstGeom prst="rect">
            <a:avLst/>
          </a:prstGeom>
          <a:noFill/>
          <a:ln/>
        </p:spPr>
        <p:txBody>
          <a:bodyPr wrap="square" lIns="0" tIns="0" rIns="0" bIns="0" rtlCol="0" anchor="ctr"/>
          <a:lstStyle/>
          <a:p>
            <a:pPr indent="0" marL="0">
              <a:lnSpc>
                <a:spcPts val="1800"/>
              </a:lnSpc>
              <a:buNone/>
            </a:pPr>
            <a:r>
              <a:rPr lang="en-US" sz="1250" dirty="0">
                <a:solidFill>
                  <a:srgbClr val="2C3E56"/>
                </a:solidFill>
                <a:latin typeface="Calibri" pitchFamily="34" charset="0"/>
                <a:ea typeface="Calibri" pitchFamily="34" charset="-122"/>
                <a:cs typeface="Calibri" pitchFamily="34" charset="-120"/>
              </a:rPr>
              <a:t>Điểm cần phân tích:  số FN ở mỗi giao thức là [ĐIỀN]  ·  mô hình nhầm lẫn theo chiều nào  ·  tỷ lệ bỏ sót trạng thái Drowsy và ý nghĩa của nó đối với an toàn thực tế</a:t>
            </a:r>
            <a:endParaRPr lang="en-US" sz="1250" dirty="0"/>
          </a:p>
        </p:txBody>
      </p:sp>
      <p:pic>
        <p:nvPicPr>
          <p:cNvPr id="14" name="Picture 13" descr="hinh_E2_confusion_matrix.png"/>
          <p:cNvPicPr>
            <a:picLocks noChangeAspect="1"/>
          </p:cNvPicPr>
          <p:nvPr/>
        </p:nvPicPr>
        <p:blipFill>
          <a:blip r:embed="rId3"/>
          <a:stretch>
            <a:fillRect/>
          </a:stretch>
        </p:blipFill>
        <p:spPr>
          <a:xfrm>
            <a:off x="320040" y="1508760"/>
            <a:ext cx="3886200" cy="1859014"/>
          </a:xfrm>
          <a:prstGeom prst="rect">
            <a:avLst/>
          </a:prstGeom>
        </p:spPr>
      </p:pic>
      <p:pic>
        <p:nvPicPr>
          <p:cNvPr id="15" name="Picture 14" descr="hinh_E5_confusion_matrix.png"/>
          <p:cNvPicPr>
            <a:picLocks noChangeAspect="1"/>
          </p:cNvPicPr>
          <p:nvPr/>
        </p:nvPicPr>
        <p:blipFill>
          <a:blip r:embed="rId4"/>
          <a:stretch>
            <a:fillRect/>
          </a:stretch>
        </p:blipFill>
        <p:spPr>
          <a:xfrm>
            <a:off x="4251960" y="1508760"/>
            <a:ext cx="3886200" cy="185901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14</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Explainable AI — Grad-CAM</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Mô hình dựa vào vùng nào của khuôn mặt để đưa ra dự đoán?</a:t>
            </a:r>
            <a:endParaRPr lang="en-US" sz="1400" dirty="0"/>
          </a:p>
        </p:txBody>
      </p:sp>
      <p:sp>
        <p:nvSpPr>
          <p:cNvPr id="6" name="Shape 3"/>
          <p:cNvSpPr/>
          <p:nvPr/>
        </p:nvSpPr>
        <p:spPr>
          <a:xfrm>
            <a:off x="594360" y="1824228"/>
            <a:ext cx="11000232" cy="2606040"/>
          </a:xfrm>
          <a:prstGeom prst="roundRect">
            <a:avLst>
              <a:gd name="adj" fmla="val 2807"/>
            </a:avLst>
          </a:prstGeom>
          <a:solidFill>
            <a:srgbClr val="EEF2F7"/>
          </a:solidFill>
          <a:ln w="15875">
            <a:solidFill>
              <a:srgbClr val="C3CEDC"/>
            </a:solidFill>
            <a:prstDash val="dash"/>
          </a:ln>
        </p:spPr>
        <p:txBody>
          <a:bodyPr/>
          <a:p/>
        </p:txBody>
      </p:sp>
      <p:sp>
        <p:nvSpPr>
          <p:cNvPr id="7" name="Text 4"/>
          <p:cNvSpPr/>
          <p:nvPr/>
        </p:nvSpPr>
        <p:spPr>
          <a:xfrm>
            <a:off x="777240" y="1824228"/>
            <a:ext cx="10634472" cy="2606040"/>
          </a:xfrm>
          <a:prstGeom prst="rect">
            <a:avLst/>
          </a:prstGeom>
          <a:noFill/>
          <a:ln/>
        </p:spPr>
        <p:txBody>
          <a:bodyPr wrap="square" lIns="0" tIns="0" rIns="0" bIns="0" rtlCol="0" anchor="ctr"/>
          <a:lstStyle/>
          <a:p/>
        </p:txBody>
      </p:sp>
      <p:sp>
        <p:nvSpPr>
          <p:cNvPr id="8" name="Shape 5"/>
          <p:cNvSpPr/>
          <p:nvPr/>
        </p:nvSpPr>
        <p:spPr>
          <a:xfrm>
            <a:off x="594360" y="4752594"/>
            <a:ext cx="5271516" cy="1371600"/>
          </a:xfrm>
          <a:prstGeom prst="roundRect">
            <a:avLst>
              <a:gd name="adj" fmla="val 6000"/>
            </a:avLst>
          </a:prstGeom>
          <a:solidFill>
            <a:srgbClr val="E8F4F4"/>
          </a:solidFill>
          <a:ln w="12700">
            <a:solidFill>
              <a:srgbClr val="E8F4F4"/>
            </a:solidFill>
            <a:prstDash val="solid"/>
          </a:ln>
          <a:effectLst>
            <a:outerShdw sx="100000" sy="100000" kx="0" ky="0" algn="bl" rotWithShape="0" blurRad="127000" dist="25400" dir="5400000">
              <a:srgbClr val="9AA8BC">
                <a:alpha val="10000"/>
              </a:srgbClr>
            </a:outerShdw>
          </a:effectLst>
        </p:spPr>
        <p:txBody>
          <a:bodyPr/>
          <a:p/>
        </p:txBody>
      </p:sp>
      <p:sp>
        <p:nvSpPr>
          <p:cNvPr id="9" name="Text 6"/>
          <p:cNvSpPr/>
          <p:nvPr/>
        </p:nvSpPr>
        <p:spPr>
          <a:xfrm>
            <a:off x="914400" y="4935017"/>
            <a:ext cx="4631436" cy="292608"/>
          </a:xfrm>
          <a:prstGeom prst="rect">
            <a:avLst/>
          </a:prstGeom>
          <a:noFill/>
          <a:ln/>
        </p:spPr>
        <p:txBody>
          <a:bodyPr wrap="square" lIns="0" tIns="0" rIns="0" bIns="0" rtlCol="0" anchor="ctr"/>
          <a:lstStyle/>
          <a:p>
            <a:pPr indent="0" marL="0">
              <a:buNone/>
            </a:pPr>
            <a:r>
              <a:rPr lang="en-US" sz="1350" b="1" dirty="0">
                <a:solidFill>
                  <a:srgbClr val="1F6363"/>
                </a:solidFill>
                <a:latin typeface="Calibri" pitchFamily="34" charset="0"/>
                <a:ea typeface="Calibri" pitchFamily="34" charset="-122"/>
                <a:cs typeface="Calibri" pitchFamily="34" charset="-120"/>
              </a:rPr>
              <a:t>Nếu heatmap tập trung ở mắt và miệng</a:t>
            </a:r>
            <a:endParaRPr lang="en-US" sz="1350" dirty="0"/>
          </a:p>
        </p:txBody>
      </p:sp>
      <p:sp>
        <p:nvSpPr>
          <p:cNvPr id="10" name="Text 7"/>
          <p:cNvSpPr/>
          <p:nvPr/>
        </p:nvSpPr>
        <p:spPr>
          <a:xfrm>
            <a:off x="914400" y="5280660"/>
            <a:ext cx="4631436" cy="685800"/>
          </a:xfrm>
          <a:prstGeom prst="rect">
            <a:avLst/>
          </a:prstGeom>
          <a:noFill/>
          <a:ln/>
        </p:spPr>
        <p:txBody>
          <a:bodyPr wrap="square" lIns="0" tIns="0" rIns="0" bIns="0" rtlCol="0" anchor="ctr"/>
          <a:lstStyle/>
          <a:p>
            <a:pPr indent="0" marL="0">
              <a:lnSpc>
                <a:spcPts val="1800"/>
              </a:lnSpc>
              <a:buNone/>
            </a:pPr>
            <a:r>
              <a:rPr lang="en-US" sz="1250" dirty="0">
                <a:solidFill>
                  <a:srgbClr val="1F5555"/>
                </a:solidFill>
                <a:latin typeface="Calibri" pitchFamily="34" charset="0"/>
                <a:ea typeface="Calibri" pitchFamily="34" charset="-122"/>
                <a:cs typeface="Calibri" pitchFamily="34" charset="-120"/>
              </a:rPr>
              <a:t>Mô hình học đúng dấu hiệu sinh lý của buồn ngủ. Kết quả đáng tin cậy.</a:t>
            </a:r>
            <a:endParaRPr lang="en-US" sz="1250" dirty="0"/>
          </a:p>
        </p:txBody>
      </p:sp>
      <p:sp>
        <p:nvSpPr>
          <p:cNvPr id="11" name="Shape 8"/>
          <p:cNvSpPr/>
          <p:nvPr/>
        </p:nvSpPr>
        <p:spPr>
          <a:xfrm>
            <a:off x="6323076" y="4752594"/>
            <a:ext cx="5271516" cy="1371600"/>
          </a:xfrm>
          <a:prstGeom prst="roundRect">
            <a:avLst>
              <a:gd name="adj" fmla="val 6000"/>
            </a:avLst>
          </a:prstGeom>
          <a:solidFill>
            <a:srgbClr val="FDECEC"/>
          </a:solidFill>
          <a:ln w="12700">
            <a:solidFill>
              <a:srgbClr val="FDECEC"/>
            </a:solidFill>
            <a:prstDash val="solid"/>
          </a:ln>
          <a:effectLst>
            <a:outerShdw sx="100000" sy="100000" kx="0" ky="0" algn="bl" rotWithShape="0" blurRad="127000" dist="25400" dir="5400000">
              <a:srgbClr val="9AA8BC">
                <a:alpha val="10000"/>
              </a:srgbClr>
            </a:outerShdw>
          </a:effectLst>
        </p:spPr>
        <p:txBody>
          <a:bodyPr/>
          <a:p/>
        </p:txBody>
      </p:sp>
      <p:sp>
        <p:nvSpPr>
          <p:cNvPr id="12" name="Text 9"/>
          <p:cNvSpPr/>
          <p:nvPr/>
        </p:nvSpPr>
        <p:spPr>
          <a:xfrm>
            <a:off x="6643116" y="4935017"/>
            <a:ext cx="4631436" cy="292608"/>
          </a:xfrm>
          <a:prstGeom prst="rect">
            <a:avLst/>
          </a:prstGeom>
          <a:noFill/>
          <a:ln/>
        </p:spPr>
        <p:txBody>
          <a:bodyPr wrap="square" lIns="0" tIns="0" rIns="0" bIns="0" rtlCol="0" anchor="ctr"/>
          <a:lstStyle/>
          <a:p>
            <a:pPr indent="0" marL="0">
              <a:buNone/>
            </a:pPr>
            <a:r>
              <a:rPr lang="en-US" sz="1350" b="1" dirty="0">
                <a:solidFill>
                  <a:srgbClr val="8E2F35"/>
                </a:solidFill>
                <a:latin typeface="Calibri" pitchFamily="34" charset="0"/>
                <a:ea typeface="Calibri" pitchFamily="34" charset="-122"/>
                <a:cs typeface="Calibri" pitchFamily="34" charset="-120"/>
              </a:rPr>
              <a:t>Nếu heatmap trải ra nền, tóc, trang phục</a:t>
            </a:r>
            <a:endParaRPr lang="en-US" sz="1350" dirty="0"/>
          </a:p>
        </p:txBody>
      </p:sp>
      <p:sp>
        <p:nvSpPr>
          <p:cNvPr id="13" name="Text 10"/>
          <p:cNvSpPr/>
          <p:nvPr/>
        </p:nvSpPr>
        <p:spPr>
          <a:xfrm>
            <a:off x="6643116" y="5280660"/>
            <a:ext cx="4631436" cy="685800"/>
          </a:xfrm>
          <a:prstGeom prst="rect">
            <a:avLst/>
          </a:prstGeom>
          <a:noFill/>
          <a:ln/>
        </p:spPr>
        <p:txBody>
          <a:bodyPr wrap="square" lIns="0" tIns="0" rIns="0" bIns="0" rtlCol="0" anchor="ctr"/>
          <a:lstStyle/>
          <a:p>
            <a:pPr indent="0" marL="0">
              <a:lnSpc>
                <a:spcPts val="1800"/>
              </a:lnSpc>
              <a:buNone/>
            </a:pPr>
            <a:r>
              <a:rPr lang="en-US" sz="1250" dirty="0">
                <a:solidFill>
                  <a:srgbClr val="7A2A30"/>
                </a:solidFill>
                <a:latin typeface="Calibri" pitchFamily="34" charset="0"/>
                <a:ea typeface="Calibri" pitchFamily="34" charset="-122"/>
                <a:cs typeface="Calibri" pitchFamily="34" charset="-120"/>
              </a:rPr>
              <a:t>Mô hình đang học đặc trưng nhận dạng cá nhân — bằng chứng trực quan cho giả thuyết rò rỉ danh tính.</a:t>
            </a:r>
            <a:endParaRPr lang="en-US" sz="1250" dirty="0"/>
          </a:p>
        </p:txBody>
      </p:sp>
      <p:pic>
        <p:nvPicPr>
          <p:cNvPr id="14" name="Picture 13" descr="hinh06_gradcam_E5.png"/>
          <p:cNvPicPr>
            <a:picLocks noChangeAspect="1"/>
          </p:cNvPicPr>
          <p:nvPr/>
        </p:nvPicPr>
        <p:blipFill>
          <a:blip r:embed="rId3"/>
          <a:stretch>
            <a:fillRect/>
          </a:stretch>
        </p:blipFill>
        <p:spPr>
          <a:xfrm>
            <a:off x="320040" y="1417320"/>
            <a:ext cx="3886200" cy="1666003"/>
          </a:xfrm>
          <a:prstGeom prst="rect">
            <a:avLst/>
          </a:prstGeom>
        </p:spPr>
      </p:pic>
      <p:pic>
        <p:nvPicPr>
          <p:cNvPr id="15" name="Picture 14" descr="hinh06_gradcam_E2.png"/>
          <p:cNvPicPr>
            <a:picLocks noChangeAspect="1"/>
          </p:cNvPicPr>
          <p:nvPr/>
        </p:nvPicPr>
        <p:blipFill>
          <a:blip r:embed="rId4"/>
          <a:stretch>
            <a:fillRect/>
          </a:stretch>
        </p:blipFill>
        <p:spPr>
          <a:xfrm>
            <a:off x="4251960" y="1417320"/>
            <a:ext cx="3886200" cy="166600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15</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Demo thời gian thực</a:t>
            </a:r>
            <a:endParaRPr lang="en-US" sz="3200" dirty="0"/>
          </a:p>
        </p:txBody>
      </p:sp>
      <p:sp>
        <p:nvSpPr>
          <p:cNvPr id="5" name="Text 2"/>
          <p:cNvSpPr/>
          <p:nvPr/>
        </p:nvSpPr>
        <p:spPr>
          <a:xfrm>
            <a:off x="594360" y="1113739"/>
            <a:ext cx="11000232" cy="329184"/>
          </a:xfrm>
          <a:prstGeom prst="rect">
            <a:avLst/>
          </a:prstGeom>
          <a:noFill/>
          <a:ln/>
        </p:spPr>
        <p:txBody>
          <a:bodyPr wrap="square" lIns="0" tIns="0" rIns="0" bIns="0" rtlCol="0" anchor="ctr"/>
          <a:lstStyle/>
          <a:p>
            <a:pPr indent="0" marL="0">
              <a:buNone/>
            </a:pPr>
            <a:r>
              <a:rPr lang="en-US" sz="1400" i="1" dirty="0">
                <a:solidFill>
                  <a:srgbClr val="6B7A90"/>
                </a:solidFill>
                <a:latin typeface="Calibri" pitchFamily="34" charset="0"/>
                <a:ea typeface="Calibri" pitchFamily="34" charset="-122"/>
                <a:cs typeface="Calibri" pitchFamily="34" charset="-120"/>
              </a:rPr>
              <a:t>Webcam → Haar Cascade → MobileNetV2 (E6) → cảnh báo</a:t>
            </a:r>
            <a:endParaRPr lang="en-US" sz="1400" dirty="0"/>
          </a:p>
        </p:txBody>
      </p:sp>
      <p:sp>
        <p:nvSpPr>
          <p:cNvPr id="6" name="Shape 3"/>
          <p:cNvSpPr/>
          <p:nvPr/>
        </p:nvSpPr>
        <p:spPr>
          <a:xfrm>
            <a:off x="594360" y="1824228"/>
            <a:ext cx="6949440" cy="3566160"/>
          </a:xfrm>
          <a:prstGeom prst="roundRect">
            <a:avLst>
              <a:gd name="adj" fmla="val 2051"/>
            </a:avLst>
          </a:prstGeom>
          <a:solidFill>
            <a:srgbClr val="EEF2F7"/>
          </a:solidFill>
          <a:ln w="15875">
            <a:solidFill>
              <a:srgbClr val="C3CEDC"/>
            </a:solidFill>
            <a:prstDash val="dash"/>
          </a:ln>
        </p:spPr>
      </p:sp>
      <p:sp>
        <p:nvSpPr>
          <p:cNvPr id="7" name="Text 4"/>
          <p:cNvSpPr/>
          <p:nvPr/>
        </p:nvSpPr>
        <p:spPr>
          <a:xfrm>
            <a:off x="777240" y="1824228"/>
            <a:ext cx="6583680" cy="3566160"/>
          </a:xfrm>
          <a:prstGeom prst="rect">
            <a:avLst/>
          </a:prstGeom>
          <a:noFill/>
          <a:ln/>
        </p:spPr>
        <p:txBody>
          <a:bodyPr wrap="square" lIns="0" tIns="0" rIns="0" bIns="0" rtlCol="0" anchor="ctr"/>
          <a:lstStyle/>
          <a:p>
            <a:pPr algn="ctr" indent="0" marL="0">
              <a:buNone/>
            </a:pPr>
            <a:r>
              <a:rPr lang="en-US" sz="1200" i="1" dirty="0">
                <a:solidFill>
                  <a:srgbClr val="7C8CA1"/>
                </a:solidFill>
                <a:latin typeface="Calibri" pitchFamily="34" charset="0"/>
                <a:ea typeface="Calibri" pitchFamily="34" charset="-122"/>
                <a:cs typeface="Calibri" pitchFamily="34" charset="-120"/>
              </a:rPr>
              <a:t>CHÈN: hinh08_demo_webcam.png</a:t>
            </a:r>
            <a:endParaRPr lang="en-US" sz="1200" dirty="0"/>
          </a:p>
          <a:p>
            <a:pPr algn="ctr" indent="0" marL="0">
              <a:buNone/>
            </a:pPr>
            <a:r>
              <a:rPr lang="en-US" sz="1200" i="1" dirty="0">
                <a:solidFill>
                  <a:srgbClr val="7C8CA1"/>
                </a:solidFill>
                <a:latin typeface="Calibri" pitchFamily="34" charset="0"/>
                <a:ea typeface="Calibri" pitchFamily="34" charset="-122"/>
                <a:cs typeface="Calibri" pitchFamily="34" charset="-120"/>
              </a:rPr>
              <a:t>(hoặc chạy demo trực tiếp trên máy khi bảo vệ)</a:t>
            </a:r>
            <a:endParaRPr lang="en-US" sz="1200" dirty="0"/>
          </a:p>
        </p:txBody>
      </p:sp>
      <p:sp>
        <p:nvSpPr>
          <p:cNvPr id="8" name="Shape 5"/>
          <p:cNvSpPr/>
          <p:nvPr/>
        </p:nvSpPr>
        <p:spPr>
          <a:xfrm>
            <a:off x="7863840" y="1824228"/>
            <a:ext cx="3730752" cy="804672"/>
          </a:xfrm>
          <a:prstGeom prst="roundRect">
            <a:avLst>
              <a:gd name="adj" fmla="val 10227"/>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9" name="Shape 6"/>
          <p:cNvSpPr/>
          <p:nvPr/>
        </p:nvSpPr>
        <p:spPr>
          <a:xfrm>
            <a:off x="8101584" y="2035454"/>
            <a:ext cx="402336" cy="402336"/>
          </a:xfrm>
          <a:prstGeom prst="ellipse">
            <a:avLst/>
          </a:prstGeom>
          <a:solidFill>
            <a:srgbClr val="E8A33D"/>
          </a:solidFill>
          <a:ln w="12700">
            <a:solidFill>
              <a:srgbClr val="E8A33D"/>
            </a:solidFill>
            <a:prstDash val="solid"/>
          </a:ln>
        </p:spPr>
      </p:sp>
      <p:sp>
        <p:nvSpPr>
          <p:cNvPr id="10" name="Text 7"/>
          <p:cNvSpPr/>
          <p:nvPr/>
        </p:nvSpPr>
        <p:spPr>
          <a:xfrm>
            <a:off x="8101584" y="203545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8650224" y="1949044"/>
            <a:ext cx="2724912" cy="256032"/>
          </a:xfrm>
          <a:prstGeom prst="rect">
            <a:avLst/>
          </a:prstGeom>
          <a:noFill/>
          <a:ln/>
        </p:spPr>
        <p:txBody>
          <a:bodyPr wrap="square" lIns="0" tIns="0" rIns="0" bIns="0" rtlCol="0" anchor="ctr"/>
          <a:lstStyle/>
          <a:p>
            <a:pPr indent="0" marL="0">
              <a:buNone/>
            </a:pPr>
            <a:r>
              <a:rPr lang="en-US" sz="1300" b="1" dirty="0">
                <a:solidFill>
                  <a:srgbClr val="12233F"/>
                </a:solidFill>
                <a:latin typeface="Calibri" pitchFamily="34" charset="0"/>
                <a:ea typeface="Calibri" pitchFamily="34" charset="-122"/>
                <a:cs typeface="Calibri" pitchFamily="34" charset="-120"/>
              </a:rPr>
              <a:t>Thu khung hình</a:t>
            </a:r>
            <a:endParaRPr lang="en-US" sz="1300" dirty="0"/>
          </a:p>
        </p:txBody>
      </p:sp>
      <p:sp>
        <p:nvSpPr>
          <p:cNvPr id="12" name="Text 9"/>
          <p:cNvSpPr/>
          <p:nvPr/>
        </p:nvSpPr>
        <p:spPr>
          <a:xfrm>
            <a:off x="8650224" y="2227478"/>
            <a:ext cx="2724912" cy="347472"/>
          </a:xfrm>
          <a:prstGeom prst="rect">
            <a:avLst/>
          </a:prstGeom>
          <a:noFill/>
          <a:ln/>
        </p:spPr>
        <p:txBody>
          <a:bodyPr wrap="square" lIns="0" tIns="0" rIns="0" bIns="0" rtlCol="0" anchor="ctr"/>
          <a:lstStyle/>
          <a:p>
            <a:pPr indent="0" marL="0">
              <a:lnSpc>
                <a:spcPts val="1400"/>
              </a:lnSpc>
              <a:buNone/>
            </a:pPr>
            <a:r>
              <a:rPr lang="en-US" sz="1100" dirty="0">
                <a:solidFill>
                  <a:srgbClr val="6B7A90"/>
                </a:solidFill>
                <a:latin typeface="Calibri" pitchFamily="34" charset="0"/>
                <a:ea typeface="Calibri" pitchFamily="34" charset="-122"/>
                <a:cs typeface="Calibri" pitchFamily="34" charset="-120"/>
              </a:rPr>
              <a:t>Camera trong cabin, 30 fps</a:t>
            </a:r>
            <a:endParaRPr lang="en-US" sz="1100" dirty="0"/>
          </a:p>
        </p:txBody>
      </p:sp>
      <p:sp>
        <p:nvSpPr>
          <p:cNvPr id="13" name="Shape 10"/>
          <p:cNvSpPr/>
          <p:nvPr/>
        </p:nvSpPr>
        <p:spPr>
          <a:xfrm>
            <a:off x="7863840" y="2803550"/>
            <a:ext cx="3730752" cy="804672"/>
          </a:xfrm>
          <a:prstGeom prst="roundRect">
            <a:avLst>
              <a:gd name="adj" fmla="val 10227"/>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4" name="Shape 11"/>
          <p:cNvSpPr/>
          <p:nvPr/>
        </p:nvSpPr>
        <p:spPr>
          <a:xfrm>
            <a:off x="8101584" y="3014777"/>
            <a:ext cx="402336" cy="402336"/>
          </a:xfrm>
          <a:prstGeom prst="ellipse">
            <a:avLst/>
          </a:prstGeom>
          <a:solidFill>
            <a:srgbClr val="E8A33D"/>
          </a:solidFill>
          <a:ln w="12700">
            <a:solidFill>
              <a:srgbClr val="E8A33D"/>
            </a:solidFill>
            <a:prstDash val="solid"/>
          </a:ln>
        </p:spPr>
      </p:sp>
      <p:sp>
        <p:nvSpPr>
          <p:cNvPr id="15" name="Text 12"/>
          <p:cNvSpPr/>
          <p:nvPr/>
        </p:nvSpPr>
        <p:spPr>
          <a:xfrm>
            <a:off x="8101584" y="301477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p:nvPr/>
        </p:nvSpPr>
        <p:spPr>
          <a:xfrm>
            <a:off x="8650224" y="2928366"/>
            <a:ext cx="2724912" cy="256032"/>
          </a:xfrm>
          <a:prstGeom prst="rect">
            <a:avLst/>
          </a:prstGeom>
          <a:noFill/>
          <a:ln/>
        </p:spPr>
        <p:txBody>
          <a:bodyPr wrap="square" lIns="0" tIns="0" rIns="0" bIns="0" rtlCol="0" anchor="ctr"/>
          <a:lstStyle/>
          <a:p>
            <a:pPr indent="0" marL="0">
              <a:buNone/>
            </a:pPr>
            <a:r>
              <a:rPr lang="en-US" sz="1300" b="1" dirty="0">
                <a:solidFill>
                  <a:srgbClr val="12233F"/>
                </a:solidFill>
                <a:latin typeface="Calibri" pitchFamily="34" charset="0"/>
                <a:ea typeface="Calibri" pitchFamily="34" charset="-122"/>
                <a:cs typeface="Calibri" pitchFamily="34" charset="-120"/>
              </a:rPr>
              <a:t>Phát hiện khuôn mặt</a:t>
            </a:r>
            <a:endParaRPr lang="en-US" sz="1300" dirty="0"/>
          </a:p>
        </p:txBody>
      </p:sp>
      <p:sp>
        <p:nvSpPr>
          <p:cNvPr id="17" name="Text 14"/>
          <p:cNvSpPr/>
          <p:nvPr/>
        </p:nvSpPr>
        <p:spPr>
          <a:xfrm>
            <a:off x="8650224" y="3206801"/>
            <a:ext cx="2724912" cy="347472"/>
          </a:xfrm>
          <a:prstGeom prst="rect">
            <a:avLst/>
          </a:prstGeom>
          <a:noFill/>
          <a:ln/>
        </p:spPr>
        <p:txBody>
          <a:bodyPr wrap="square" lIns="0" tIns="0" rIns="0" bIns="0" rtlCol="0" anchor="ctr"/>
          <a:lstStyle/>
          <a:p>
            <a:pPr indent="0" marL="0">
              <a:lnSpc>
                <a:spcPts val="1400"/>
              </a:lnSpc>
              <a:buNone/>
            </a:pPr>
            <a:r>
              <a:rPr lang="en-US" sz="1100" dirty="0">
                <a:solidFill>
                  <a:srgbClr val="6B7A90"/>
                </a:solidFill>
                <a:latin typeface="Calibri" pitchFamily="34" charset="0"/>
                <a:ea typeface="Calibri" pitchFamily="34" charset="-122"/>
                <a:cs typeface="Calibri" pitchFamily="34" charset="-120"/>
              </a:rPr>
              <a:t>Haar Cascade, cắt vùng ROI</a:t>
            </a:r>
            <a:endParaRPr lang="en-US" sz="1100" dirty="0"/>
          </a:p>
        </p:txBody>
      </p:sp>
      <p:sp>
        <p:nvSpPr>
          <p:cNvPr id="18" name="Shape 15"/>
          <p:cNvSpPr/>
          <p:nvPr/>
        </p:nvSpPr>
        <p:spPr>
          <a:xfrm>
            <a:off x="7863840" y="3782873"/>
            <a:ext cx="3730752" cy="804672"/>
          </a:xfrm>
          <a:prstGeom prst="roundRect">
            <a:avLst>
              <a:gd name="adj" fmla="val 10227"/>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19" name="Shape 16"/>
          <p:cNvSpPr/>
          <p:nvPr/>
        </p:nvSpPr>
        <p:spPr>
          <a:xfrm>
            <a:off x="8101584" y="3994099"/>
            <a:ext cx="402336" cy="402336"/>
          </a:xfrm>
          <a:prstGeom prst="ellipse">
            <a:avLst/>
          </a:prstGeom>
          <a:solidFill>
            <a:srgbClr val="E8A33D"/>
          </a:solidFill>
          <a:ln w="12700">
            <a:solidFill>
              <a:srgbClr val="E8A33D"/>
            </a:solidFill>
            <a:prstDash val="solid"/>
          </a:ln>
        </p:spPr>
      </p:sp>
      <p:sp>
        <p:nvSpPr>
          <p:cNvPr id="20" name="Text 17"/>
          <p:cNvSpPr/>
          <p:nvPr/>
        </p:nvSpPr>
        <p:spPr>
          <a:xfrm>
            <a:off x="8101584" y="39940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p:nvPr/>
        </p:nvSpPr>
        <p:spPr>
          <a:xfrm>
            <a:off x="8650224" y="3907688"/>
            <a:ext cx="2724912" cy="256032"/>
          </a:xfrm>
          <a:prstGeom prst="rect">
            <a:avLst/>
          </a:prstGeom>
          <a:noFill/>
          <a:ln/>
        </p:spPr>
        <p:txBody>
          <a:bodyPr wrap="square" lIns="0" tIns="0" rIns="0" bIns="0" rtlCol="0" anchor="ctr"/>
          <a:lstStyle/>
          <a:p>
            <a:pPr indent="0" marL="0">
              <a:buNone/>
            </a:pPr>
            <a:r>
              <a:rPr lang="en-US" sz="1300" b="1" dirty="0">
                <a:solidFill>
                  <a:srgbClr val="12233F"/>
                </a:solidFill>
                <a:latin typeface="Calibri" pitchFamily="34" charset="0"/>
                <a:ea typeface="Calibri" pitchFamily="34" charset="-122"/>
                <a:cs typeface="Calibri" pitchFamily="34" charset="-120"/>
              </a:rPr>
              <a:t>Phân loại</a:t>
            </a:r>
            <a:endParaRPr lang="en-US" sz="1300" dirty="0"/>
          </a:p>
        </p:txBody>
      </p:sp>
      <p:sp>
        <p:nvSpPr>
          <p:cNvPr id="22" name="Text 19"/>
          <p:cNvSpPr/>
          <p:nvPr/>
        </p:nvSpPr>
        <p:spPr>
          <a:xfrm>
            <a:off x="8650224" y="4186123"/>
            <a:ext cx="2724912" cy="347472"/>
          </a:xfrm>
          <a:prstGeom prst="rect">
            <a:avLst/>
          </a:prstGeom>
          <a:noFill/>
          <a:ln/>
        </p:spPr>
        <p:txBody>
          <a:bodyPr wrap="square" lIns="0" tIns="0" rIns="0" bIns="0" rtlCol="0" anchor="ctr"/>
          <a:lstStyle/>
          <a:p>
            <a:pPr indent="0" marL="0">
              <a:lnSpc>
                <a:spcPts val="1400"/>
              </a:lnSpc>
              <a:buNone/>
            </a:pPr>
            <a:r>
              <a:rPr lang="en-US" sz="1100" dirty="0">
                <a:solidFill>
                  <a:srgbClr val="6B7A90"/>
                </a:solidFill>
                <a:latin typeface="Calibri" pitchFamily="34" charset="0"/>
                <a:ea typeface="Calibri" pitchFamily="34" charset="-122"/>
                <a:cs typeface="Calibri" pitchFamily="34" charset="-120"/>
              </a:rPr>
              <a:t>MobileNetV2, đầu ra xác suất</a:t>
            </a:r>
            <a:endParaRPr lang="en-US" sz="1100" dirty="0"/>
          </a:p>
        </p:txBody>
      </p:sp>
      <p:sp>
        <p:nvSpPr>
          <p:cNvPr id="23" name="Shape 20"/>
          <p:cNvSpPr/>
          <p:nvPr/>
        </p:nvSpPr>
        <p:spPr>
          <a:xfrm>
            <a:off x="7863840" y="4762195"/>
            <a:ext cx="3730752" cy="804672"/>
          </a:xfrm>
          <a:prstGeom prst="roundRect">
            <a:avLst>
              <a:gd name="adj" fmla="val 10227"/>
            </a:avLst>
          </a:prstGeom>
          <a:solidFill>
            <a:srgbClr val="F4F6F9"/>
          </a:solidFill>
          <a:ln w="12700">
            <a:solidFill>
              <a:srgbClr val="F4F6F9"/>
            </a:solidFill>
            <a:prstDash val="solid"/>
          </a:ln>
          <a:effectLst>
            <a:outerShdw sx="100000" sy="100000" kx="0" ky="0" algn="bl" rotWithShape="0" blurRad="127000" dist="25400" dir="5400000">
              <a:srgbClr val="9AA8BC">
                <a:alpha val="10000"/>
              </a:srgbClr>
            </a:outerShdw>
          </a:effectLst>
        </p:spPr>
      </p:sp>
      <p:sp>
        <p:nvSpPr>
          <p:cNvPr id="24" name="Shape 21"/>
          <p:cNvSpPr/>
          <p:nvPr/>
        </p:nvSpPr>
        <p:spPr>
          <a:xfrm>
            <a:off x="8101584" y="4973422"/>
            <a:ext cx="402336" cy="402336"/>
          </a:xfrm>
          <a:prstGeom prst="ellipse">
            <a:avLst/>
          </a:prstGeom>
          <a:solidFill>
            <a:srgbClr val="E8A33D"/>
          </a:solidFill>
          <a:ln w="12700">
            <a:solidFill>
              <a:srgbClr val="E8A33D"/>
            </a:solidFill>
            <a:prstDash val="solid"/>
          </a:ln>
        </p:spPr>
      </p:sp>
      <p:sp>
        <p:nvSpPr>
          <p:cNvPr id="25" name="Text 22"/>
          <p:cNvSpPr/>
          <p:nvPr/>
        </p:nvSpPr>
        <p:spPr>
          <a:xfrm>
            <a:off x="8101584" y="497342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p:nvPr/>
        </p:nvSpPr>
        <p:spPr>
          <a:xfrm>
            <a:off x="8650224" y="4887011"/>
            <a:ext cx="2724912" cy="256032"/>
          </a:xfrm>
          <a:prstGeom prst="rect">
            <a:avLst/>
          </a:prstGeom>
          <a:noFill/>
          <a:ln/>
        </p:spPr>
        <p:txBody>
          <a:bodyPr wrap="square" lIns="0" tIns="0" rIns="0" bIns="0" rtlCol="0" anchor="ctr"/>
          <a:lstStyle/>
          <a:p>
            <a:pPr indent="0" marL="0">
              <a:buNone/>
            </a:pPr>
            <a:r>
              <a:rPr lang="en-US" sz="1300" b="1" dirty="0">
                <a:solidFill>
                  <a:srgbClr val="12233F"/>
                </a:solidFill>
                <a:latin typeface="Calibri" pitchFamily="34" charset="0"/>
                <a:ea typeface="Calibri" pitchFamily="34" charset="-122"/>
                <a:cs typeface="Calibri" pitchFamily="34" charset="-120"/>
              </a:rPr>
              <a:t>Cảnh báo</a:t>
            </a:r>
            <a:endParaRPr lang="en-US" sz="1300" dirty="0"/>
          </a:p>
        </p:txBody>
      </p:sp>
      <p:sp>
        <p:nvSpPr>
          <p:cNvPr id="27" name="Text 24"/>
          <p:cNvSpPr/>
          <p:nvPr/>
        </p:nvSpPr>
        <p:spPr>
          <a:xfrm>
            <a:off x="8650224" y="5165446"/>
            <a:ext cx="2724912" cy="347472"/>
          </a:xfrm>
          <a:prstGeom prst="rect">
            <a:avLst/>
          </a:prstGeom>
          <a:noFill/>
          <a:ln/>
        </p:spPr>
        <p:txBody>
          <a:bodyPr wrap="square" lIns="0" tIns="0" rIns="0" bIns="0" rtlCol="0" anchor="ctr"/>
          <a:lstStyle/>
          <a:p>
            <a:pPr indent="0" marL="0">
              <a:lnSpc>
                <a:spcPts val="1400"/>
              </a:lnSpc>
              <a:buNone/>
            </a:pPr>
            <a:r>
              <a:rPr lang="en-US" sz="1100" dirty="0">
                <a:solidFill>
                  <a:srgbClr val="6B7A90"/>
                </a:solidFill>
                <a:latin typeface="Calibri" pitchFamily="34" charset="0"/>
                <a:ea typeface="Calibri" pitchFamily="34" charset="-122"/>
                <a:cs typeface="Calibri" pitchFamily="34" charset="-120"/>
              </a:rPr>
              <a:t>Khi vượt ngưỡng trong nhiều khung liên tiếp</a:t>
            </a:r>
            <a:endParaRPr lang="en-US" sz="1100" dirty="0"/>
          </a:p>
        </p:txBody>
      </p:sp>
      <p:sp>
        <p:nvSpPr>
          <p:cNvPr id="28" name="Text 25"/>
          <p:cNvSpPr/>
          <p:nvPr/>
        </p:nvSpPr>
        <p:spPr>
          <a:xfrm>
            <a:off x="594360" y="5808726"/>
            <a:ext cx="694944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Tốc độ suy luận trung bình: [ĐIỀN] khung hình / giây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233F"/>
        </a:solidFill>
      </p:bgPr>
    </p:bg>
    <p:spTree>
      <p:nvGrpSpPr>
        <p:cNvPr id="1" name=""/>
        <p:cNvGrpSpPr/>
        <p:nvPr/>
      </p:nvGrpSpPr>
      <p:grpSpPr>
        <a:xfrm>
          <a:off x="0" y="0"/>
          <a:ext cx="0" cy="0"/>
          <a:chOff x="0" y="0"/>
          <a:chExt cx="0" cy="0"/>
        </a:xfrm>
      </p:grpSpPr>
      <p:sp>
        <p:nvSpPr>
          <p:cNvPr id="3" name="Text 0"/>
          <p:cNvSpPr/>
          <p:nvPr/>
        </p:nvSpPr>
        <p:spPr>
          <a:xfrm>
            <a:off x="594360" y="672084"/>
            <a:ext cx="5486400" cy="292608"/>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KẾT LUẬN</a:t>
            </a:r>
            <a:endParaRPr lang="en-US" sz="1300" dirty="0"/>
          </a:p>
        </p:txBody>
      </p:sp>
      <p:sp>
        <p:nvSpPr>
          <p:cNvPr id="4" name="Text 1"/>
          <p:cNvSpPr/>
          <p:nvPr/>
        </p:nvSpPr>
        <p:spPr>
          <a:xfrm>
            <a:off x="594360" y="1075334"/>
            <a:ext cx="1100023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Đóng góp của nhóm</a:t>
            </a:r>
            <a:endParaRPr lang="en-US" sz="3000" dirty="0"/>
          </a:p>
        </p:txBody>
      </p:sp>
      <p:sp>
        <p:nvSpPr>
          <p:cNvPr id="5" name="Shape 2"/>
          <p:cNvSpPr/>
          <p:nvPr/>
        </p:nvSpPr>
        <p:spPr>
          <a:xfrm>
            <a:off x="594360" y="2064258"/>
            <a:ext cx="5271516" cy="1353312"/>
          </a:xfrm>
          <a:prstGeom prst="roundRect">
            <a:avLst>
              <a:gd name="adj" fmla="val 6081"/>
            </a:avLst>
          </a:prstGeom>
          <a:solidFill>
            <a:srgbClr val="1D3557"/>
          </a:solidFill>
          <a:ln w="12700">
            <a:solidFill>
              <a:srgbClr val="2C4970"/>
            </a:solidFill>
            <a:prstDash val="solid"/>
          </a:ln>
        </p:spPr>
      </p:sp>
      <p:sp>
        <p:nvSpPr>
          <p:cNvPr id="6" name="Shape 3"/>
          <p:cNvSpPr/>
          <p:nvPr/>
        </p:nvSpPr>
        <p:spPr>
          <a:xfrm>
            <a:off x="886968" y="2333092"/>
            <a:ext cx="402336" cy="402336"/>
          </a:xfrm>
          <a:prstGeom prst="ellipse">
            <a:avLst/>
          </a:prstGeom>
          <a:solidFill>
            <a:srgbClr val="E8A33D"/>
          </a:solidFill>
          <a:ln w="12700">
            <a:solidFill>
              <a:srgbClr val="E8A33D"/>
            </a:solidFill>
            <a:prstDash val="solid"/>
          </a:ln>
        </p:spPr>
      </p:sp>
      <p:sp>
        <p:nvSpPr>
          <p:cNvPr id="7" name="Text 4"/>
          <p:cNvSpPr/>
          <p:nvPr/>
        </p:nvSpPr>
        <p:spPr>
          <a:xfrm>
            <a:off x="886968" y="23330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463040" y="2294687"/>
            <a:ext cx="412851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Phát hiện và định lượng</a:t>
            </a:r>
            <a:endParaRPr lang="en-US" sz="1500" dirty="0"/>
          </a:p>
        </p:txBody>
      </p:sp>
      <p:sp>
        <p:nvSpPr>
          <p:cNvPr id="9" name="Text 6"/>
          <p:cNvSpPr/>
          <p:nvPr/>
        </p:nvSpPr>
        <p:spPr>
          <a:xfrm>
            <a:off x="1463040" y="2640330"/>
            <a:ext cx="4128516" cy="713232"/>
          </a:xfrm>
          <a:prstGeom prst="rect">
            <a:avLst/>
          </a:prstGeom>
          <a:noFill/>
          <a:ln/>
        </p:spPr>
        <p:txBody>
          <a:bodyPr wrap="square" lIns="0" tIns="0" rIns="0" bIns="0" rtlCol="0" anchor="ctr"/>
          <a:lstStyle/>
          <a:p>
            <a:pPr indent="0" marL="0">
              <a:lnSpc>
                <a:spcPts val="1700"/>
              </a:lnSpc>
              <a:buNone/>
            </a:pPr>
            <a:r>
              <a:rPr lang="en-US" sz="1200" dirty="0">
                <a:solidFill>
                  <a:srgbClr val="A9BBD4"/>
                </a:solidFill>
                <a:latin typeface="Calibri" pitchFamily="34" charset="0"/>
                <a:ea typeface="Calibri" pitchFamily="34" charset="-122"/>
                <a:cs typeface="Calibri" pitchFamily="34" charset="-120"/>
              </a:rPr>
              <a:t>Chỉ ra hiện tượng rò rỉ danh tính trong giao thức chia ngẫu nhiên trên bộ DDD, bằng thực nghiệm đối chứng có kiểm soát</a:t>
            </a:r>
            <a:endParaRPr lang="en-US" sz="1200" dirty="0"/>
          </a:p>
        </p:txBody>
      </p:sp>
      <p:sp>
        <p:nvSpPr>
          <p:cNvPr id="10" name="Shape 7"/>
          <p:cNvSpPr/>
          <p:nvPr/>
        </p:nvSpPr>
        <p:spPr>
          <a:xfrm>
            <a:off x="6323076" y="2064258"/>
            <a:ext cx="5271516" cy="1353312"/>
          </a:xfrm>
          <a:prstGeom prst="roundRect">
            <a:avLst>
              <a:gd name="adj" fmla="val 6081"/>
            </a:avLst>
          </a:prstGeom>
          <a:solidFill>
            <a:srgbClr val="1D3557"/>
          </a:solidFill>
          <a:ln w="12700">
            <a:solidFill>
              <a:srgbClr val="2C4970"/>
            </a:solidFill>
            <a:prstDash val="solid"/>
          </a:ln>
        </p:spPr>
      </p:sp>
      <p:sp>
        <p:nvSpPr>
          <p:cNvPr id="11" name="Shape 8"/>
          <p:cNvSpPr/>
          <p:nvPr/>
        </p:nvSpPr>
        <p:spPr>
          <a:xfrm>
            <a:off x="6615684" y="2333092"/>
            <a:ext cx="402336" cy="402336"/>
          </a:xfrm>
          <a:prstGeom prst="ellipse">
            <a:avLst/>
          </a:prstGeom>
          <a:solidFill>
            <a:srgbClr val="E8A33D"/>
          </a:solidFill>
          <a:ln w="12700">
            <a:solidFill>
              <a:srgbClr val="E8A33D"/>
            </a:solidFill>
            <a:prstDash val="solid"/>
          </a:ln>
        </p:spPr>
      </p:sp>
      <p:sp>
        <p:nvSpPr>
          <p:cNvPr id="12" name="Text 9"/>
          <p:cNvSpPr/>
          <p:nvPr/>
        </p:nvSpPr>
        <p:spPr>
          <a:xfrm>
            <a:off x="6615684" y="23330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7191756" y="2294687"/>
            <a:ext cx="412851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Đề xuất giao thức đánh giá</a:t>
            </a:r>
            <a:endParaRPr lang="en-US" sz="1500" dirty="0"/>
          </a:p>
        </p:txBody>
      </p:sp>
      <p:sp>
        <p:nvSpPr>
          <p:cNvPr id="14" name="Text 11"/>
          <p:cNvSpPr/>
          <p:nvPr/>
        </p:nvSpPr>
        <p:spPr>
          <a:xfrm>
            <a:off x="7191756" y="2640330"/>
            <a:ext cx="4128516" cy="713232"/>
          </a:xfrm>
          <a:prstGeom prst="rect">
            <a:avLst/>
          </a:prstGeom>
          <a:noFill/>
          <a:ln/>
        </p:spPr>
        <p:txBody>
          <a:bodyPr wrap="square" lIns="0" tIns="0" rIns="0" bIns="0" rtlCol="0" anchor="ctr"/>
          <a:lstStyle/>
          <a:p>
            <a:pPr indent="0" marL="0">
              <a:lnSpc>
                <a:spcPts val="1700"/>
              </a:lnSpc>
              <a:buNone/>
            </a:pPr>
            <a:r>
              <a:rPr lang="en-US" sz="1200" dirty="0">
                <a:solidFill>
                  <a:srgbClr val="A9BBD4"/>
                </a:solidFill>
                <a:latin typeface="Calibri" pitchFamily="34" charset="0"/>
                <a:ea typeface="Calibri" pitchFamily="34" charset="-122"/>
                <a:cs typeface="Calibri" pitchFamily="34" charset="-120"/>
              </a:rPr>
              <a:t>Chia độc lập theo người, đảm bảo mỗi tài xế chỉ thuộc đúng một tập dữ liệu</a:t>
            </a:r>
            <a:endParaRPr lang="en-US" sz="1200" dirty="0"/>
          </a:p>
        </p:txBody>
      </p:sp>
      <p:sp>
        <p:nvSpPr>
          <p:cNvPr id="15" name="Shape 12"/>
          <p:cNvSpPr/>
          <p:nvPr/>
        </p:nvSpPr>
        <p:spPr>
          <a:xfrm>
            <a:off x="594360" y="3715664"/>
            <a:ext cx="5271516" cy="1353312"/>
          </a:xfrm>
          <a:prstGeom prst="roundRect">
            <a:avLst>
              <a:gd name="adj" fmla="val 6081"/>
            </a:avLst>
          </a:prstGeom>
          <a:solidFill>
            <a:srgbClr val="1D3557"/>
          </a:solidFill>
          <a:ln w="12700">
            <a:solidFill>
              <a:srgbClr val="2C4970"/>
            </a:solidFill>
            <a:prstDash val="solid"/>
          </a:ln>
        </p:spPr>
      </p:sp>
      <p:sp>
        <p:nvSpPr>
          <p:cNvPr id="16" name="Shape 13"/>
          <p:cNvSpPr/>
          <p:nvPr/>
        </p:nvSpPr>
        <p:spPr>
          <a:xfrm>
            <a:off x="886968" y="3984498"/>
            <a:ext cx="402336" cy="402336"/>
          </a:xfrm>
          <a:prstGeom prst="ellipse">
            <a:avLst/>
          </a:prstGeom>
          <a:solidFill>
            <a:srgbClr val="E8A33D"/>
          </a:solidFill>
          <a:ln w="12700">
            <a:solidFill>
              <a:srgbClr val="E8A33D"/>
            </a:solidFill>
            <a:prstDash val="solid"/>
          </a:ln>
        </p:spPr>
      </p:sp>
      <p:sp>
        <p:nvSpPr>
          <p:cNvPr id="17" name="Text 14"/>
          <p:cNvSpPr/>
          <p:nvPr/>
        </p:nvSpPr>
        <p:spPr>
          <a:xfrm>
            <a:off x="886968" y="398449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463040" y="3946093"/>
            <a:ext cx="412851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So sánh có hệ thống</a:t>
            </a:r>
            <a:endParaRPr lang="en-US" sz="1500" dirty="0"/>
          </a:p>
        </p:txBody>
      </p:sp>
      <p:sp>
        <p:nvSpPr>
          <p:cNvPr id="19" name="Text 16"/>
          <p:cNvSpPr/>
          <p:nvPr/>
        </p:nvSpPr>
        <p:spPr>
          <a:xfrm>
            <a:off x="1463040" y="4291736"/>
            <a:ext cx="4128516" cy="713232"/>
          </a:xfrm>
          <a:prstGeom prst="rect">
            <a:avLst/>
          </a:prstGeom>
          <a:noFill/>
          <a:ln/>
        </p:spPr>
        <p:txBody>
          <a:bodyPr wrap="square" lIns="0" tIns="0" rIns="0" bIns="0" rtlCol="0" anchor="ctr"/>
          <a:lstStyle/>
          <a:p>
            <a:pPr indent="0" marL="0">
              <a:lnSpc>
                <a:spcPts val="1700"/>
              </a:lnSpc>
              <a:buNone/>
            </a:pPr>
            <a:r>
              <a:rPr lang="en-US" sz="1200" dirty="0">
                <a:solidFill>
                  <a:srgbClr val="A9BBD4"/>
                </a:solidFill>
                <a:latin typeface="Calibri" pitchFamily="34" charset="0"/>
                <a:ea typeface="Calibri" pitchFamily="34" charset="-122"/>
                <a:cs typeface="Calibri" pitchFamily="34" charset="-120"/>
              </a:rPr>
              <a:t>Ba kiến trúc trên hai giao thức, cùng siêu tham số, cùng seed, cùng môi trường — đảm bảo công bằng</a:t>
            </a:r>
            <a:endParaRPr lang="en-US" sz="1200" dirty="0"/>
          </a:p>
        </p:txBody>
      </p:sp>
      <p:sp>
        <p:nvSpPr>
          <p:cNvPr id="20" name="Shape 17"/>
          <p:cNvSpPr/>
          <p:nvPr/>
        </p:nvSpPr>
        <p:spPr>
          <a:xfrm>
            <a:off x="6323076" y="3715664"/>
            <a:ext cx="5271516" cy="1353312"/>
          </a:xfrm>
          <a:prstGeom prst="roundRect">
            <a:avLst>
              <a:gd name="adj" fmla="val 6081"/>
            </a:avLst>
          </a:prstGeom>
          <a:solidFill>
            <a:srgbClr val="1D3557"/>
          </a:solidFill>
          <a:ln w="12700">
            <a:solidFill>
              <a:srgbClr val="2C4970"/>
            </a:solidFill>
            <a:prstDash val="solid"/>
          </a:ln>
        </p:spPr>
      </p:sp>
      <p:sp>
        <p:nvSpPr>
          <p:cNvPr id="21" name="Shape 18"/>
          <p:cNvSpPr/>
          <p:nvPr/>
        </p:nvSpPr>
        <p:spPr>
          <a:xfrm>
            <a:off x="6615684" y="3984498"/>
            <a:ext cx="402336" cy="402336"/>
          </a:xfrm>
          <a:prstGeom prst="ellipse">
            <a:avLst/>
          </a:prstGeom>
          <a:solidFill>
            <a:srgbClr val="E8A33D"/>
          </a:solidFill>
          <a:ln w="12700">
            <a:solidFill>
              <a:srgbClr val="E8A33D"/>
            </a:solidFill>
            <a:prstDash val="solid"/>
          </a:ln>
        </p:spPr>
      </p:sp>
      <p:sp>
        <p:nvSpPr>
          <p:cNvPr id="22" name="Text 19"/>
          <p:cNvSpPr/>
          <p:nvPr/>
        </p:nvSpPr>
        <p:spPr>
          <a:xfrm>
            <a:off x="6615684" y="398449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7191756" y="3946093"/>
            <a:ext cx="412851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Giải thích và triển khai</a:t>
            </a:r>
            <a:endParaRPr lang="en-US" sz="1500" dirty="0"/>
          </a:p>
        </p:txBody>
      </p:sp>
      <p:sp>
        <p:nvSpPr>
          <p:cNvPr id="24" name="Text 21"/>
          <p:cNvSpPr/>
          <p:nvPr/>
        </p:nvSpPr>
        <p:spPr>
          <a:xfrm>
            <a:off x="7191756" y="4291736"/>
            <a:ext cx="4128516" cy="713232"/>
          </a:xfrm>
          <a:prstGeom prst="rect">
            <a:avLst/>
          </a:prstGeom>
          <a:noFill/>
          <a:ln/>
        </p:spPr>
        <p:txBody>
          <a:bodyPr wrap="square" lIns="0" tIns="0" rIns="0" bIns="0" rtlCol="0" anchor="ctr"/>
          <a:lstStyle/>
          <a:p>
            <a:pPr indent="0" marL="0">
              <a:lnSpc>
                <a:spcPts val="1700"/>
              </a:lnSpc>
              <a:buNone/>
            </a:pPr>
            <a:r>
              <a:rPr lang="en-US" sz="1200" dirty="0">
                <a:solidFill>
                  <a:srgbClr val="A9BBD4"/>
                </a:solidFill>
                <a:latin typeface="Calibri" pitchFamily="34" charset="0"/>
                <a:ea typeface="Calibri" pitchFamily="34" charset="-122"/>
                <a:cs typeface="Calibri" pitchFamily="34" charset="-120"/>
              </a:rPr>
              <a:t>Grad-CAM kiểm chứng căn cứ ra quyết định của mô hình; nguyên mẫu chạy thời gian thực qua webcam</a:t>
            </a:r>
            <a:endParaRPr lang="en-US" sz="1200" dirty="0"/>
          </a:p>
        </p:txBody>
      </p:sp>
      <p:sp>
        <p:nvSpPr>
          <p:cNvPr id="25" name="Text 22"/>
          <p:cNvSpPr/>
          <p:nvPr/>
        </p:nvSpPr>
        <p:spPr>
          <a:xfrm>
            <a:off x="594360" y="5616702"/>
            <a:ext cx="11000232" cy="457200"/>
          </a:xfrm>
          <a:prstGeom prst="rect">
            <a:avLst/>
          </a:prstGeom>
          <a:noFill/>
          <a:ln/>
        </p:spPr>
        <p:txBody>
          <a:bodyPr wrap="square" lIns="0" tIns="0" rIns="0" bIns="0" rtlCol="0" anchor="ctr"/>
          <a:lstStyle/>
          <a:p>
            <a:pPr indent="0" marL="0">
              <a:buNone/>
            </a:pPr>
            <a:r>
              <a:rPr lang="en-US" sz="1300" i="1" dirty="0">
                <a:solidFill>
                  <a:srgbClr val="CBD7E8"/>
                </a:solidFill>
                <a:latin typeface="Calibri" pitchFamily="34" charset="0"/>
                <a:ea typeface="Calibri" pitchFamily="34" charset="-122"/>
                <a:cs typeface="Calibri" pitchFamily="34" charset="-120"/>
              </a:rPr>
              <a:t>Nhóm không đề xuất kiến trúc mới. Đóng góp nằm ở việc chỉ ra một vấn đề về giao thức đánh giá và đưa ra cách khắc phục kiểm chứng được.</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4552" y="6355080"/>
            <a:ext cx="457200" cy="274320"/>
          </a:xfrm>
          <a:prstGeom prst="rect">
            <a:avLst/>
          </a:prstGeom>
          <a:noFill/>
          <a:ln/>
        </p:spPr>
        <p:txBody>
          <a:bodyPr wrap="square" rtlCol="0" anchor="ctr"/>
          <a:lstStyle/>
          <a:p>
            <a:pPr algn="r" indent="0" marL="0">
              <a:buNone/>
            </a:pPr>
            <a:r>
              <a:rPr lang="en-US" sz="1100" dirty="0">
                <a:solidFill>
                  <a:srgbClr val="6B7A90"/>
                </a:solidFill>
                <a:latin typeface="Calibri" pitchFamily="34" charset="0"/>
                <a:ea typeface="Calibri" pitchFamily="34" charset="-122"/>
                <a:cs typeface="Calibri" pitchFamily="34" charset="-120"/>
              </a:rPr>
              <a:t>16</a:t>
            </a:r>
            <a:endParaRPr lang="en-US" sz="1100" dirty="0"/>
          </a:p>
        </p:txBody>
      </p:sp>
      <p:sp>
        <p:nvSpPr>
          <p:cNvPr id="4" name="Text 1"/>
          <p:cNvSpPr/>
          <p:nvPr/>
        </p:nvSpPr>
        <p:spPr>
          <a:xfrm>
            <a:off x="594360" y="432054"/>
            <a:ext cx="11000232" cy="65836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Hạn chế và hướng phát triển</a:t>
            </a:r>
            <a:endParaRPr lang="en-US" sz="3200" dirty="0"/>
          </a:p>
        </p:txBody>
      </p:sp>
      <p:sp>
        <p:nvSpPr>
          <p:cNvPr id="5" name="Text 2"/>
          <p:cNvSpPr/>
          <p:nvPr/>
        </p:nvSpPr>
        <p:spPr>
          <a:xfrm>
            <a:off x="594360" y="1728216"/>
            <a:ext cx="5271516" cy="320040"/>
          </a:xfrm>
          <a:prstGeom prst="rect">
            <a:avLst/>
          </a:prstGeom>
          <a:noFill/>
          <a:ln/>
        </p:spPr>
        <p:txBody>
          <a:bodyPr wrap="square" lIns="0" tIns="0" rIns="0" bIns="0" rtlCol="0" anchor="ctr"/>
          <a:lstStyle/>
          <a:p>
            <a:pPr indent="0" marL="0">
              <a:buNone/>
            </a:pPr>
            <a:r>
              <a:rPr lang="en-US" sz="1700" b="1" dirty="0">
                <a:solidFill>
                  <a:srgbClr val="C6444A"/>
                </a:solidFill>
                <a:latin typeface="Calibri" pitchFamily="34" charset="0"/>
                <a:ea typeface="Calibri" pitchFamily="34" charset="-122"/>
                <a:cs typeface="Calibri" pitchFamily="34" charset="-120"/>
              </a:rPr>
              <a:t>Hạn chế</a:t>
            </a:r>
            <a:endParaRPr lang="en-US" sz="1700" dirty="0"/>
          </a:p>
        </p:txBody>
      </p:sp>
      <p:sp>
        <p:nvSpPr>
          <p:cNvPr id="6" name="Shape 3"/>
          <p:cNvSpPr/>
          <p:nvPr/>
        </p:nvSpPr>
        <p:spPr>
          <a:xfrm>
            <a:off x="594360" y="2160270"/>
            <a:ext cx="5271516" cy="3291840"/>
          </a:xfrm>
          <a:prstGeom prst="roundRect">
            <a:avLst>
              <a:gd name="adj" fmla="val 2500"/>
            </a:avLst>
          </a:prstGeom>
          <a:solidFill>
            <a:srgbClr val="FDECEC"/>
          </a:solidFill>
          <a:ln w="12700">
            <a:solidFill>
              <a:srgbClr val="FDECEC"/>
            </a:solidFill>
            <a:prstDash val="solid"/>
          </a:ln>
          <a:effectLst>
            <a:outerShdw sx="100000" sy="100000" kx="0" ky="0" algn="bl" rotWithShape="0" blurRad="127000" dist="25400" dir="5400000">
              <a:srgbClr val="9AA8BC">
                <a:alpha val="10000"/>
              </a:srgbClr>
            </a:outerShdw>
          </a:effectLst>
        </p:spPr>
      </p:sp>
      <p:sp>
        <p:nvSpPr>
          <p:cNvPr id="7" name="Text 4"/>
          <p:cNvSpPr/>
          <p:nvPr/>
        </p:nvSpPr>
        <p:spPr>
          <a:xfrm>
            <a:off x="978408" y="2400300"/>
            <a:ext cx="4503420" cy="28346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7A2A30"/>
                </a:solidFill>
                <a:latin typeface="Calibri" pitchFamily="34" charset="0"/>
                <a:ea typeface="Calibri" pitchFamily="34" charset="-122"/>
                <a:cs typeface="Calibri" pitchFamily="34" charset="-120"/>
              </a:rPr>
              <a:t>Phân loại trên ảnh tĩnh độc lập, chưa khai thác thông tin thời gian — một khung hình nhắm mắt có thể chỉ là cái chớp mắt</a:t>
            </a:r>
            <a:endParaRPr lang="en-US" sz="1250" dirty="0"/>
          </a:p>
          <a:p>
            <a:pPr marL="342900" indent="-342900">
              <a:spcAft>
                <a:spcPts val="1000"/>
              </a:spcAft>
              <a:buSzPct val="100000"/>
              <a:buChar char="•"/>
            </a:pPr>
            <a:r>
              <a:rPr lang="en-US" sz="1250" dirty="0">
                <a:solidFill>
                  <a:srgbClr val="7A2A30"/>
                </a:solidFill>
                <a:latin typeface="Calibri" pitchFamily="34" charset="0"/>
                <a:ea typeface="Calibri" pitchFamily="34" charset="-122"/>
                <a:cs typeface="Calibri" pitchFamily="34" charset="-120"/>
              </a:rPr>
              <a:t>Số người tham gia hạn chế; kết quả ở giao thức B phụ thuộc vào việc ai rơi vào tập kiểm thử</a:t>
            </a:r>
            <a:endParaRPr lang="en-US" sz="1250" dirty="0"/>
          </a:p>
          <a:p>
            <a:pPr marL="342900" indent="-342900">
              <a:spcAft>
                <a:spcPts val="1000"/>
              </a:spcAft>
              <a:buSzPct val="100000"/>
              <a:buChar char="•"/>
            </a:pPr>
            <a:r>
              <a:rPr lang="en-US" sz="1250" dirty="0">
                <a:solidFill>
                  <a:srgbClr val="7A2A30"/>
                </a:solidFill>
                <a:latin typeface="Calibri" pitchFamily="34" charset="0"/>
                <a:ea typeface="Calibri" pitchFamily="34" charset="-122"/>
                <a:cs typeface="Calibri" pitchFamily="34" charset="-120"/>
              </a:rPr>
              <a:t>Chưa thực hiện kiểm định chéo theo người</a:t>
            </a:r>
            <a:endParaRPr lang="en-US" sz="1250" dirty="0"/>
          </a:p>
          <a:p>
            <a:pPr marL="342900" indent="-342900">
              <a:spcAft>
                <a:spcPts val="1000"/>
              </a:spcAft>
              <a:buSzPct val="100000"/>
              <a:buChar char="•"/>
            </a:pPr>
            <a:r>
              <a:rPr lang="en-US" sz="1250" dirty="0">
                <a:solidFill>
                  <a:srgbClr val="7A2A30"/>
                </a:solidFill>
                <a:latin typeface="Calibri" pitchFamily="34" charset="0"/>
                <a:ea typeface="Calibri" pitchFamily="34" charset="-122"/>
                <a:cs typeface="Calibri" pitchFamily="34" charset="-120"/>
              </a:rPr>
              <a:t>Chưa đánh giá trong điều kiện lái xe thực với rung lắc, ánh sáng đêm, kính râm</a:t>
            </a:r>
            <a:endParaRPr lang="en-US" sz="1250" dirty="0"/>
          </a:p>
        </p:txBody>
      </p:sp>
      <p:sp>
        <p:nvSpPr>
          <p:cNvPr id="8" name="Text 5"/>
          <p:cNvSpPr/>
          <p:nvPr/>
        </p:nvSpPr>
        <p:spPr>
          <a:xfrm>
            <a:off x="6323076" y="1728216"/>
            <a:ext cx="5271516" cy="320040"/>
          </a:xfrm>
          <a:prstGeom prst="rect">
            <a:avLst/>
          </a:prstGeom>
          <a:noFill/>
          <a:ln/>
        </p:spPr>
        <p:txBody>
          <a:bodyPr wrap="square" lIns="0" tIns="0" rIns="0" bIns="0" rtlCol="0" anchor="ctr"/>
          <a:lstStyle/>
          <a:p>
            <a:pPr indent="0" marL="0">
              <a:buNone/>
            </a:pPr>
            <a:r>
              <a:rPr lang="en-US" sz="1700" b="1" dirty="0">
                <a:solidFill>
                  <a:srgbClr val="2E8B8B"/>
                </a:solidFill>
                <a:latin typeface="Calibri" pitchFamily="34" charset="0"/>
                <a:ea typeface="Calibri" pitchFamily="34" charset="-122"/>
                <a:cs typeface="Calibri" pitchFamily="34" charset="-120"/>
              </a:rPr>
              <a:t>Hướng phát triển</a:t>
            </a:r>
            <a:endParaRPr lang="en-US" sz="1700" dirty="0"/>
          </a:p>
        </p:txBody>
      </p:sp>
      <p:sp>
        <p:nvSpPr>
          <p:cNvPr id="9" name="Shape 6"/>
          <p:cNvSpPr/>
          <p:nvPr/>
        </p:nvSpPr>
        <p:spPr>
          <a:xfrm>
            <a:off x="6323076" y="2160270"/>
            <a:ext cx="5271516" cy="3291840"/>
          </a:xfrm>
          <a:prstGeom prst="roundRect">
            <a:avLst>
              <a:gd name="adj" fmla="val 2500"/>
            </a:avLst>
          </a:prstGeom>
          <a:solidFill>
            <a:srgbClr val="E8F4F4"/>
          </a:solidFill>
          <a:ln w="12700">
            <a:solidFill>
              <a:srgbClr val="E8F4F4"/>
            </a:solidFill>
            <a:prstDash val="solid"/>
          </a:ln>
          <a:effectLst>
            <a:outerShdw sx="100000" sy="100000" kx="0" ky="0" algn="bl" rotWithShape="0" blurRad="127000" dist="25400" dir="5400000">
              <a:srgbClr val="9AA8BC">
                <a:alpha val="10000"/>
              </a:srgbClr>
            </a:outerShdw>
          </a:effectLst>
        </p:spPr>
      </p:sp>
      <p:sp>
        <p:nvSpPr>
          <p:cNvPr id="10" name="Text 7"/>
          <p:cNvSpPr/>
          <p:nvPr/>
        </p:nvSpPr>
        <p:spPr>
          <a:xfrm>
            <a:off x="6707124" y="2400300"/>
            <a:ext cx="4503420" cy="28346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1F5555"/>
                </a:solidFill>
                <a:latin typeface="Calibri" pitchFamily="34" charset="0"/>
                <a:ea typeface="Calibri" pitchFamily="34" charset="-122"/>
                <a:cs typeface="Calibri" pitchFamily="34" charset="-120"/>
              </a:rPr>
              <a:t>Kết hợp CNN với LSTM hoặc Transformer để phân loại trên cụm khung hình liên tiếp</a:t>
            </a:r>
            <a:endParaRPr lang="en-US" sz="1250" dirty="0"/>
          </a:p>
          <a:p>
            <a:pPr marL="342900" indent="-342900">
              <a:spcAft>
                <a:spcPts val="900"/>
              </a:spcAft>
              <a:buSzPct val="100000"/>
              <a:buChar char="•"/>
            </a:pPr>
            <a:r>
              <a:rPr lang="en-US" sz="1250" dirty="0">
                <a:solidFill>
                  <a:srgbClr val="1F5555"/>
                </a:solidFill>
                <a:latin typeface="Calibri" pitchFamily="34" charset="0"/>
                <a:ea typeface="Calibri" pitchFamily="34" charset="-122"/>
                <a:cs typeface="Calibri" pitchFamily="34" charset="-120"/>
              </a:rPr>
              <a:t>Kiểm định chéo theo người để có ước lượng ổn định kèm khoảng tin cậy</a:t>
            </a:r>
            <a:endParaRPr lang="en-US" sz="1250" dirty="0"/>
          </a:p>
          <a:p>
            <a:pPr marL="342900" indent="-342900">
              <a:spcAft>
                <a:spcPts val="900"/>
              </a:spcAft>
              <a:buSzPct val="100000"/>
              <a:buChar char="•"/>
            </a:pPr>
            <a:r>
              <a:rPr lang="en-US" sz="1250" dirty="0">
                <a:solidFill>
                  <a:srgbClr val="1F5555"/>
                </a:solidFill>
                <a:latin typeface="Calibri" pitchFamily="34" charset="0"/>
                <a:ea typeface="Calibri" pitchFamily="34" charset="-122"/>
                <a:cs typeface="Calibri" pitchFamily="34" charset="-120"/>
              </a:rPr>
              <a:t>Kiểm chứng chéo giữa các bộ dữ liệu: train trên DDD, đánh giá trên bộ khác</a:t>
            </a:r>
            <a:endParaRPr lang="en-US" sz="1250" dirty="0"/>
          </a:p>
          <a:p>
            <a:pPr marL="342900" indent="-342900">
              <a:spcAft>
                <a:spcPts val="900"/>
              </a:spcAft>
              <a:buSzPct val="100000"/>
              <a:buChar char="•"/>
            </a:pPr>
            <a:r>
              <a:rPr lang="en-US" sz="1250" dirty="0">
                <a:solidFill>
                  <a:srgbClr val="1F5555"/>
                </a:solidFill>
                <a:latin typeface="Calibri" pitchFamily="34" charset="0"/>
                <a:ea typeface="Calibri" pitchFamily="34" charset="-122"/>
                <a:cs typeface="Calibri" pitchFamily="34" charset="-120"/>
              </a:rPr>
              <a:t>Lượng tử hoá và cắt tỉa mô hình để triển khai trên vi xử lý nhúng</a:t>
            </a:r>
            <a:endParaRPr lang="en-US" sz="1250" dirty="0"/>
          </a:p>
          <a:p>
            <a:pPr marL="342900" indent="-342900">
              <a:spcAft>
                <a:spcPts val="900"/>
              </a:spcAft>
              <a:buSzPct val="100000"/>
              <a:buChar char="•"/>
            </a:pPr>
            <a:r>
              <a:rPr lang="en-US" sz="1250" dirty="0">
                <a:solidFill>
                  <a:srgbClr val="1F5555"/>
                </a:solidFill>
                <a:latin typeface="Calibri" pitchFamily="34" charset="0"/>
                <a:ea typeface="Calibri" pitchFamily="34" charset="-122"/>
                <a:cs typeface="Calibri" pitchFamily="34" charset="-120"/>
              </a:rPr>
              <a:t>Bổ sung nhánh xử lý riêng cho vùng mắt, miệng và ước lượng tư thế đầu</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233F"/>
        </a:solidFill>
      </p:bgPr>
    </p:bg>
    <p:spTree>
      <p:nvGrpSpPr>
        <p:cNvPr id="1" name=""/>
        <p:cNvGrpSpPr/>
        <p:nvPr/>
      </p:nvGrpSpPr>
      <p:grpSpPr>
        <a:xfrm>
          <a:off x="0" y="0"/>
          <a:ext cx="0" cy="0"/>
          <a:chOff x="0" y="0"/>
          <a:chExt cx="0" cy="0"/>
        </a:xfrm>
      </p:grpSpPr>
      <p:sp>
        <p:nvSpPr>
          <p:cNvPr id="3" name="Shape 0"/>
          <p:cNvSpPr/>
          <p:nvPr/>
        </p:nvSpPr>
        <p:spPr>
          <a:xfrm>
            <a:off x="7982712" y="2834640"/>
            <a:ext cx="6035040" cy="6035040"/>
          </a:xfrm>
          <a:prstGeom prst="ellipse">
            <a:avLst/>
          </a:prstGeom>
          <a:solidFill>
            <a:srgbClr val="1D3557"/>
          </a:solidFill>
          <a:ln w="12700">
            <a:solidFill>
              <a:srgbClr val="1D3557"/>
            </a:solidFill>
            <a:prstDash val="solid"/>
          </a:ln>
        </p:spPr>
      </p:sp>
      <p:sp>
        <p:nvSpPr>
          <p:cNvPr id="4" name="Text 1"/>
          <p:cNvSpPr/>
          <p:nvPr/>
        </p:nvSpPr>
        <p:spPr>
          <a:xfrm>
            <a:off x="594360" y="2331720"/>
            <a:ext cx="786384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Cảm ơn thầy cô đã lắng nghe</a:t>
            </a:r>
            <a:endParaRPr lang="en-US" sz="3600" dirty="0"/>
          </a:p>
        </p:txBody>
      </p:sp>
      <p:sp>
        <p:nvSpPr>
          <p:cNvPr id="5" name="Text 2"/>
          <p:cNvSpPr/>
          <p:nvPr/>
        </p:nvSpPr>
        <p:spPr>
          <a:xfrm>
            <a:off x="594360" y="3246120"/>
            <a:ext cx="7863840" cy="411480"/>
          </a:xfrm>
          <a:prstGeom prst="rect">
            <a:avLst/>
          </a:prstGeom>
          <a:noFill/>
          <a:ln/>
        </p:spPr>
        <p:txBody>
          <a:bodyPr wrap="square" lIns="0" tIns="0" rIns="0" bIns="0" rtlCol="0" anchor="ctr"/>
          <a:lstStyle/>
          <a:p>
            <a:pPr indent="0" marL="0">
              <a:buNone/>
            </a:pPr>
            <a:r>
              <a:rPr lang="en-US" sz="1700" dirty="0">
                <a:solidFill>
                  <a:srgbClr val="E8A33D"/>
                </a:solidFill>
                <a:latin typeface="Calibri" pitchFamily="34" charset="0"/>
                <a:ea typeface="Calibri" pitchFamily="34" charset="-122"/>
                <a:cs typeface="Calibri" pitchFamily="34" charset="-120"/>
              </a:rPr>
              <a:t>Nhóm rất mong nhận được câu hỏi và góp ý</a:t>
            </a:r>
            <a:endParaRPr lang="en-US" sz="1700" dirty="0"/>
          </a:p>
        </p:txBody>
      </p:sp>
      <p:sp>
        <p:nvSpPr>
          <p:cNvPr id="6" name="Text 3"/>
          <p:cNvSpPr/>
          <p:nvPr/>
        </p:nvSpPr>
        <p:spPr>
          <a:xfrm>
            <a:off x="594360" y="3977640"/>
            <a:ext cx="7863840" cy="411480"/>
          </a:xfrm>
          <a:prstGeom prst="rect">
            <a:avLst/>
          </a:prstGeom>
          <a:noFill/>
          <a:ln/>
        </p:spPr>
        <p:txBody>
          <a:bodyPr wrap="square" lIns="0" tIns="0" rIns="0" bIns="0" rtlCol="0" anchor="ctr"/>
          <a:lstStyle/>
          <a:p>
            <a:pPr indent="0" marL="0">
              <a:buNone/>
            </a:pPr>
            <a:r>
              <a:rPr lang="en-US" sz="1300" i="1" dirty="0">
                <a:solidFill>
                  <a:srgbClr val="A9BBD4"/>
                </a:solidFill>
                <a:latin typeface="Calibri" pitchFamily="34" charset="0"/>
                <a:ea typeface="Calibri" pitchFamily="34" charset="-122"/>
                <a:cs typeface="Calibri" pitchFamily="34" charset="-120"/>
              </a:rPr>
              <a:t>Mã nguồn, dữ liệu và toàn bộ kết quả thực nghiệm đã được đóng gói kèm báo cáo.</a:t>
            </a:r>
            <a:endParaRPr lang="en-US" sz="13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7315200" cy="640080"/>
          </a:xfrm>
          <a:prstGeom prst="rect">
            <a:avLst/>
          </a:prstGeom>
          <a:noFill/>
        </p:spPr>
        <p:txBody>
          <a:bodyPr wrap="none">
            <a:spAutoFit/>
          </a:bodyPr>
          <a:lstStyle/>
          <a:p>
            <a:pPr>
              <a:defRPr sz="3000" b="1"/>
            </a:pPr>
            <a:r>
              <a:t>Thông tin lần chạy notebook</a:t>
            </a:r>
          </a:p>
        </p:txBody>
      </p:sp>
      <p:sp>
        <p:nvSpPr>
          <p:cNvPr id="3" name="TextBox 2"/>
          <p:cNvSpPr txBox="1"/>
          <p:nvPr/>
        </p:nvSpPr>
        <p:spPr>
          <a:xfrm>
            <a:off x="731520" y="1463040"/>
            <a:ext cx="7315200" cy="4297680"/>
          </a:xfrm>
          <a:prstGeom prst="rect">
            <a:avLst/>
          </a:prstGeom>
          <a:noFill/>
        </p:spPr>
        <p:txBody>
          <a:bodyPr wrap="none">
            <a:spAutoFit/>
          </a:bodyPr>
          <a:lstStyle/>
          <a:p>
            <a:pPr>
              <a:spcAft>
                <a:spcPts val="1400"/>
              </a:spcAft>
              <a:defRPr sz="2200"/>
            </a:pPr>
            <a:r>
              <a:t>• Thời điểm: 15/08/2026; môi trường local CPU; TensorFlow 2.21</a:t>
            </a:r>
          </a:p>
          <a:p>
            <a:pPr>
              <a:spcAft>
                <a:spcPts val="1400"/>
              </a:spcAft>
              <a:defRPr sz="2200"/>
            </a:pPr>
            <a:r>
              <a:t>• Chế độ pilot: 2% mỗi tập, ảnh 96×96, 2 + 1 epoch</a:t>
            </a:r>
          </a:p>
          <a:p>
            <a:pPr>
              <a:spcAft>
                <a:spcPts val="1400"/>
              </a:spcAft>
              <a:defRPr sz="2200"/>
            </a:pPr>
            <a:r>
              <a:t>• Đã chạy đủ E1–E6 và xuất đường cong, confusion matrix, ROC, Grad-CAM</a:t>
            </a:r>
          </a:p>
          <a:p>
            <a:pPr>
              <a:spcAft>
                <a:spcPts val="1400"/>
              </a:spcAft>
              <a:defRPr sz="2200"/>
            </a:pPr>
            <a:r>
              <a:t>• Kết quả pilot chỉ dùng kiểm tra pipeline; cần chạy lại cấu hình đầy đủ trên Colab GPU trước khi công bố số liệu chính thức.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2026-08-15T07:11:23Z</dcterms:created>
  <dcterms:modified xsi:type="dcterms:W3CDTF">2026-08-15T07:11:23Z</dcterms:modified>
</cp:coreProperties>
</file>